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53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extLst/>
          </a:lstStyle>
          <a:p>
            <a:fld id="{17103A3C-C389-423A-909E-FA089947EAA1}" type="datetimeFigureOut">
              <a:rPr lang="en-US" smtClean="0"/>
              <a:pPr/>
              <a:t>5/13/2023</a:t>
            </a:fld>
            <a:endParaRPr lang="en-US"/>
          </a:p>
        </p:txBody>
      </p:sp>
      <p:sp>
        <p:nvSpPr>
          <p:cNvPr id="17" name="Footer Placeholder 16"/>
          <p:cNvSpPr>
            <a:spLocks noGrp="1"/>
          </p:cNvSpPr>
          <p:nvPr>
            <p:ph type="ftr" sz="quarter" idx="11"/>
          </p:nvPr>
        </p:nvSpPr>
        <p:spPr/>
        <p:txBody>
          <a:bodyPr/>
          <a:lstStyle>
            <a:extLst/>
          </a:lstStyle>
          <a:p>
            <a:endParaRPr lang="en-US"/>
          </a:p>
        </p:txBody>
      </p:sp>
      <p:sp>
        <p:nvSpPr>
          <p:cNvPr id="29" name="Slide Number Placeholder 28"/>
          <p:cNvSpPr>
            <a:spLocks noGrp="1"/>
          </p:cNvSpPr>
          <p:nvPr>
            <p:ph type="sldNum" sz="quarter" idx="12"/>
          </p:nvPr>
        </p:nvSpPr>
        <p:spPr/>
        <p:txBody>
          <a:bodyPr/>
          <a:lstStyle>
            <a:extLst/>
          </a:lstStyle>
          <a:p>
            <a:fld id="{C55350C1-C54F-453E-95D3-698CC9FF0982}" type="slidenum">
              <a:rPr lang="en-US" smtClean="0"/>
              <a:pPr/>
              <a:t>‹#›</a:t>
            </a:fld>
            <a:endParaRPr lang="en-US"/>
          </a:p>
        </p:txBody>
      </p:sp>
      <p:sp>
        <p:nvSpPr>
          <p:cNvPr id="32" name="Rectangle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9" name="Rectangle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0"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1"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42"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Titl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smtClean="0"/>
              <a:t>Click to edit Master title style</a:t>
            </a:r>
            <a:endParaRPr kumimoji="0" lang="en-US"/>
          </a:p>
        </p:txBody>
      </p:sp>
      <p:sp>
        <p:nvSpPr>
          <p:cNvPr id="9" name="Subtitl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56" name="Rectangle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5" name="Rectangle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6" name="Rectangle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7" name="Rectangle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7103A3C-C389-423A-909E-FA089947EAA1}" type="datetimeFigureOut">
              <a:rPr lang="en-US" smtClean="0"/>
              <a:pPr/>
              <a:t>5/13/2023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55350C1-C54F-453E-95D3-698CC9FF098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5" name="Freeform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3" name="Freeform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6" name="Freeform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7" name="Freeform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8" name="Freeform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9" name="Freeform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0" name="Freeform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1" name="Freeform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2" name="Freeform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3" name="Freeform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4" name="Freeform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5" name="Freeform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6" name="Freeform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7" name="Freeform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3" name="Text Placeholder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7103A3C-C389-423A-909E-FA089947EAA1}" type="datetimeFigureOut">
              <a:rPr lang="en-US" smtClean="0"/>
              <a:pPr/>
              <a:t>5/13/2023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55350C1-C54F-453E-95D3-698CC9FF0982}" type="slidenum">
              <a:rPr lang="en-US" smtClean="0"/>
              <a:pPr/>
              <a:t>‹#›</a:t>
            </a:fld>
            <a:endParaRPr lang="en-US"/>
          </a:p>
        </p:txBody>
      </p:sp>
      <p:sp>
        <p:nvSpPr>
          <p:cNvPr id="7" name="Rectangle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706902" y="512064"/>
            <a:ext cx="8156448" cy="777240"/>
          </a:xfrm>
        </p:spPr>
        <p:txBody>
          <a:bodyPr tIns="64008"/>
          <a:lstStyle>
            <a:lvl1pPr algn="l">
              <a:buNone/>
              <a:defRPr sz="3800" b="0" cap="none" spc="-150" baseline="0"/>
            </a:lvl1pPr>
            <a:extLst/>
          </a:lstStyle>
          <a:p>
            <a:r>
              <a:rPr kumimoji="0" lang="en-US" smtClean="0"/>
              <a:t>Click to edit Master title style</a:t>
            </a:r>
            <a:endParaRPr kumimoji="0" lang="en-US"/>
          </a:p>
        </p:txBody>
      </p:sp>
      <p:sp>
        <p:nvSpPr>
          <p:cNvPr id="8" name="Rectangle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Rectangle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9144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7103A3C-C389-423A-909E-FA089947EAA1}" type="datetimeFigureOut">
              <a:rPr lang="en-US" smtClean="0"/>
              <a:pPr/>
              <a:t>5/13/2023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55350C1-C54F-453E-95D3-698CC9FF098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504824" y="512064"/>
            <a:ext cx="7772400" cy="914400"/>
          </a:xfrm>
        </p:spPr>
        <p:txBody>
          <a:bodyPr anchor="t"/>
          <a:lstStyle>
            <a:lvl1pPr>
              <a:defRPr sz="400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7103A3C-C389-423A-909E-FA089947EAA1}" type="datetimeFigureOut">
              <a:rPr lang="en-US" smtClean="0"/>
              <a:pPr/>
              <a:t>5/13/2023</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C55350C1-C54F-453E-95D3-698CC9FF0982}" type="slidenum">
              <a:rPr lang="en-US" smtClean="0"/>
              <a:pPr/>
              <a:t>‹#›</a:t>
            </a:fld>
            <a:endParaRPr lang="en-US"/>
          </a:p>
        </p:txBody>
      </p:sp>
      <p:sp>
        <p:nvSpPr>
          <p:cNvPr id="16" name="Rectangle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7"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8"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9"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0" name="Rectangle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1"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Rectangle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9" name="Rectangle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0" name="Rectangle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914400"/>
          </a:xfrm>
        </p:spPr>
        <p:txBody>
          <a:bodyPr/>
          <a:lstStyle>
            <a:lvl1pPr>
              <a:defRPr sz="4000" cap="none" baseline="0"/>
            </a:lvl1pPr>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7103A3C-C389-423A-909E-FA089947EAA1}" type="datetimeFigureOut">
              <a:rPr lang="en-US" smtClean="0"/>
              <a:pPr/>
              <a:t>5/13/2023</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C55350C1-C54F-453E-95D3-698CC9FF098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7103A3C-C389-423A-909E-FA089947EAA1}" type="datetimeFigureOut">
              <a:rPr lang="en-US" smtClean="0"/>
              <a:pPr/>
              <a:t>5/13/2023</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C55350C1-C54F-453E-95D3-698CC9FF098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229600" cy="1162050"/>
          </a:xfrm>
        </p:spPr>
        <p:txBody>
          <a:bodyPr anchor="ctr"/>
          <a:lstStyle>
            <a:lvl1pPr algn="l">
              <a:buNone/>
              <a:defRPr sz="3600" b="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7103A3C-C389-423A-909E-FA089947EAA1}" type="datetimeFigureOut">
              <a:rPr lang="en-US" smtClean="0"/>
              <a:pPr/>
              <a:t>5/13/2023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55350C1-C54F-453E-95D3-698CC9FF098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cxnSp>
        <p:nvCxnSpPr>
          <p:cNvPr id="9" name="Straight Connector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8514581" y="1219200"/>
            <a:ext cx="132763" cy="128466"/>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en-US" smtClean="0"/>
              <a:t>Click icon to add picture</a:t>
            </a:r>
            <a:endParaRPr kumimoji="0" lang="en-US"/>
          </a:p>
        </p:txBody>
      </p:sp>
      <p:sp>
        <p:nvSpPr>
          <p:cNvPr id="4" name="Text Placeholder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grpSp>
        <p:nvGrpSpPr>
          <p:cNvPr id="14" name="Group 13"/>
          <p:cNvGrpSpPr/>
          <p:nvPr/>
        </p:nvGrpSpPr>
        <p:grpSpPr>
          <a:xfrm rot="5400000">
            <a:off x="8666981" y="1371600"/>
            <a:ext cx="132763" cy="128466"/>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8320088" y="1474763"/>
            <a:ext cx="132763" cy="128466"/>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6477000" y="55499"/>
            <a:ext cx="2133600" cy="365125"/>
          </a:xfrm>
        </p:spPr>
        <p:txBody>
          <a:bodyPr/>
          <a:lstStyle>
            <a:extLst/>
          </a:lstStyle>
          <a:p>
            <a:fld id="{17103A3C-C389-423A-909E-FA089947EAA1}" type="datetimeFigureOut">
              <a:rPr lang="en-US" smtClean="0"/>
              <a:pPr/>
              <a:t>5/13/2023</a:t>
            </a:fld>
            <a:endParaRPr lang="en-US"/>
          </a:p>
        </p:txBody>
      </p:sp>
      <p:sp>
        <p:nvSpPr>
          <p:cNvPr id="6" name="Footer Placeholder 5"/>
          <p:cNvSpPr>
            <a:spLocks noGrp="1"/>
          </p:cNvSpPr>
          <p:nvPr>
            <p:ph type="ftr" sz="quarter" idx="11"/>
          </p:nvPr>
        </p:nvSpPr>
        <p:spPr>
          <a:xfrm>
            <a:off x="914400" y="55499"/>
            <a:ext cx="5562600" cy="365125"/>
          </a:xfrm>
        </p:spPr>
        <p:txBody>
          <a:bodyPr/>
          <a:lstStyle>
            <a:extLst/>
          </a:lstStyle>
          <a:p>
            <a:endParaRPr lang="en-US"/>
          </a:p>
        </p:txBody>
      </p:sp>
      <p:sp>
        <p:nvSpPr>
          <p:cNvPr id="7" name="Slide Number Placeholder 6"/>
          <p:cNvSpPr>
            <a:spLocks noGrp="1"/>
          </p:cNvSpPr>
          <p:nvPr>
            <p:ph type="sldNum" sz="quarter" idx="12"/>
          </p:nvPr>
        </p:nvSpPr>
        <p:spPr>
          <a:xfrm>
            <a:off x="8610600" y="55499"/>
            <a:ext cx="457200" cy="365125"/>
          </a:xfrm>
        </p:spPr>
        <p:txBody>
          <a:bodyPr/>
          <a:lstStyle>
            <a:extLst/>
          </a:lstStyle>
          <a:p>
            <a:fld id="{C55350C1-C54F-453E-95D3-698CC9FF098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7103A3C-C389-423A-909E-FA089947EAA1}" type="datetimeFigureOut">
              <a:rPr lang="en-US" smtClean="0"/>
              <a:pPr/>
              <a:t>5/13/2023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55350C1-C54F-453E-95D3-698CC9FF098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981200" cy="5851525"/>
          </a:xfrm>
        </p:spPr>
        <p:txBody>
          <a:bodyPr vert="eaVert" anchor="ct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39"/>
            <a:ext cx="58674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7103A3C-C389-423A-909E-FA089947EAA1}" type="datetimeFigureOut">
              <a:rPr lang="en-US" smtClean="0"/>
              <a:pPr/>
              <a:t>5/13/2023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55350C1-C54F-453E-95D3-698CC9FF098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Rectangle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ectangle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ectangle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5"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6"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7"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Title Placeholder 21"/>
          <p:cNvSpPr>
            <a:spLocks noGrp="1"/>
          </p:cNvSpPr>
          <p:nvPr>
            <p:ph type="title"/>
          </p:nvPr>
        </p:nvSpPr>
        <p:spPr>
          <a:xfrm>
            <a:off x="914400" y="512064"/>
            <a:ext cx="7772400" cy="914400"/>
          </a:xfrm>
          <a:prstGeom prst="rect">
            <a:avLst/>
          </a:prstGeom>
        </p:spPr>
        <p:txBody>
          <a:bodyPr vert="horz" anchor="t">
            <a:noAutofit/>
          </a:bodyPr>
          <a:lstStyle>
            <a:extLst/>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783560"/>
            <a:ext cx="7772400" cy="457200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fld id="{17103A3C-C389-423A-909E-FA089947EAA1}" type="datetimeFigureOut">
              <a:rPr lang="en-US" smtClean="0"/>
              <a:pPr/>
              <a:t>5/13/2023</a:t>
            </a:fld>
            <a:endParaRPr lang="en-US"/>
          </a:p>
        </p:txBody>
      </p:sp>
      <p:sp>
        <p:nvSpPr>
          <p:cNvPr id="3" name="Footer Placeholder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endParaRPr lang="en-US"/>
          </a:p>
        </p:txBody>
      </p:sp>
      <p:sp>
        <p:nvSpPr>
          <p:cNvPr id="23" name="Slide Number Placeholder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fld id="{C55350C1-C54F-453E-95D3-698CC9FF0982}"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hyperlink" Target="https://www.karnataka.com/belgaum/shirur-dam-belgaum/" TargetMode="Externa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8" Type="http://schemas.openxmlformats.org/officeDocument/2006/relationships/hyperlink" Target="https://en.wikipedia.org/wiki/India" TargetMode="External"/><Relationship Id="rId13" Type="http://schemas.openxmlformats.org/officeDocument/2006/relationships/hyperlink" Target="https://en.wikipedia.org/wiki/Tungabhadra_Dam" TargetMode="External"/><Relationship Id="rId3" Type="http://schemas.openxmlformats.org/officeDocument/2006/relationships/image" Target="../media/image12.jpeg"/><Relationship Id="rId7" Type="http://schemas.openxmlformats.org/officeDocument/2006/relationships/hyperlink" Target="https://en.wikipedia.org/wiki/Karnataka" TargetMode="External"/><Relationship Id="rId12" Type="http://schemas.openxmlformats.org/officeDocument/2006/relationships/hyperlink" Target="https://en.wikipedia.org/wiki/Madras_Presidency" TargetMode="External"/><Relationship Id="rId17" Type="http://schemas.openxmlformats.org/officeDocument/2006/relationships/hyperlink" Target="https://en.wikipedia.org/wiki/Mahbubnagar" TargetMode="External"/><Relationship Id="rId2" Type="http://schemas.openxmlformats.org/officeDocument/2006/relationships/image" Target="../media/image11.jpeg"/><Relationship Id="rId16" Type="http://schemas.openxmlformats.org/officeDocument/2006/relationships/hyperlink" Target="https://en.wikipedia.org/wiki/Telangana" TargetMode="External"/><Relationship Id="rId1" Type="http://schemas.openxmlformats.org/officeDocument/2006/relationships/slideLayout" Target="../slideLayouts/slideLayout7.xml"/><Relationship Id="rId6" Type="http://schemas.openxmlformats.org/officeDocument/2006/relationships/hyperlink" Target="https://en.wikipedia.org/wiki/Vijayanagara_district" TargetMode="External"/><Relationship Id="rId11" Type="http://schemas.openxmlformats.org/officeDocument/2006/relationships/hyperlink" Target="https://en.wikipedia.org/wiki/Hyderabad_state" TargetMode="External"/><Relationship Id="rId5" Type="http://schemas.openxmlformats.org/officeDocument/2006/relationships/hyperlink" Target="https://en.wikipedia.org/wiki/Hosapete" TargetMode="External"/><Relationship Id="rId15" Type="http://schemas.openxmlformats.org/officeDocument/2006/relationships/hyperlink" Target="https://en.wikipedia.org/wiki/Mysore_State" TargetMode="External"/><Relationship Id="rId10" Type="http://schemas.openxmlformats.org/officeDocument/2006/relationships/hyperlink" Target="https://en.wikipedia.org/wiki/Kerala" TargetMode="External"/><Relationship Id="rId4" Type="http://schemas.openxmlformats.org/officeDocument/2006/relationships/hyperlink" Target="https://en.wikipedia.org/wiki/Tungabhadra_River" TargetMode="External"/><Relationship Id="rId9" Type="http://schemas.openxmlformats.org/officeDocument/2006/relationships/hyperlink" Target="https://en.wikipedia.org/wiki/Mullaperiyar_Dam" TargetMode="External"/><Relationship Id="rId14" Type="http://schemas.openxmlformats.org/officeDocument/2006/relationships/hyperlink" Target="https://en.wikipedia.org/wiki/Republic_Day_(India)"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hyperlink" Target="https://en.wikipedia.org/wiki/Sahyadri" TargetMode="External"/><Relationship Id="rId3" Type="http://schemas.openxmlformats.org/officeDocument/2006/relationships/image" Target="../media/image15.jpeg"/><Relationship Id="rId7" Type="http://schemas.openxmlformats.org/officeDocument/2006/relationships/hyperlink" Target="https://en.wikipedia.org/wiki/Andhra_Pradesh" TargetMode="External"/><Relationship Id="rId2" Type="http://schemas.openxmlformats.org/officeDocument/2006/relationships/image" Target="../media/image14.jpeg"/><Relationship Id="rId1" Type="http://schemas.openxmlformats.org/officeDocument/2006/relationships/slideLayout" Target="../slideLayouts/slideLayout7.xml"/><Relationship Id="rId6" Type="http://schemas.openxmlformats.org/officeDocument/2006/relationships/hyperlink" Target="https://en.wikipedia.org/wiki/Karnataka" TargetMode="External"/><Relationship Id="rId5" Type="http://schemas.openxmlformats.org/officeDocument/2006/relationships/hyperlink" Target="https://en.wikipedia.org/wiki/Western_Ghats" TargetMode="External"/><Relationship Id="rId4" Type="http://schemas.openxmlformats.org/officeDocument/2006/relationships/hyperlink" Target="https://en.wikipedia.org/wiki/Indi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643042" y="214290"/>
            <a:ext cx="6786610" cy="923330"/>
          </a:xfrm>
          <a:prstGeom prst="rect">
            <a:avLst/>
          </a:prstGeom>
          <a:noFill/>
          <a:effectLst>
            <a:glow rad="228600">
              <a:schemeClr val="accent2">
                <a:satMod val="175000"/>
                <a:alpha val="40000"/>
              </a:schemeClr>
            </a:glow>
          </a:effectLst>
          <a:scene3d>
            <a:camera prst="perspectiveRight"/>
            <a:lightRig rig="threePt" dir="t"/>
          </a:scene3d>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5400" b="1" cap="none" spc="0" dirty="0" smtClean="0">
                <a:ln w="11430"/>
                <a:solidFill>
                  <a:schemeClr val="accent1"/>
                </a:solidFill>
                <a:effectLst>
                  <a:outerShdw blurRad="80000" dist="40000" dir="5040000" algn="tl">
                    <a:srgbClr val="000000">
                      <a:alpha val="30000"/>
                    </a:srgbClr>
                  </a:outerShdw>
                </a:effectLst>
              </a:rPr>
              <a:t>KARNATAKA</a:t>
            </a:r>
            <a:endParaRPr lang="en-US" sz="5400" b="1" cap="none" spc="0" dirty="0">
              <a:ln w="11430"/>
              <a:solidFill>
                <a:schemeClr val="accent1"/>
              </a:solidFill>
              <a:effectLst>
                <a:outerShdw blurRad="80000" dist="40000" dir="5040000" algn="tl">
                  <a:srgbClr val="000000">
                    <a:alpha val="30000"/>
                  </a:srgbClr>
                </a:outerShdw>
              </a:effectLst>
            </a:endParaRPr>
          </a:p>
        </p:txBody>
      </p:sp>
      <p:pic>
        <p:nvPicPr>
          <p:cNvPr id="1026" name="Picture 2" descr="C:\Users\gpt\Desktop\images.jfif"/>
          <p:cNvPicPr>
            <a:picLocks noChangeAspect="1" noChangeArrowheads="1"/>
          </p:cNvPicPr>
          <p:nvPr/>
        </p:nvPicPr>
        <p:blipFill>
          <a:blip r:embed="rId2"/>
          <a:srcRect/>
          <a:stretch>
            <a:fillRect/>
          </a:stretch>
        </p:blipFill>
        <p:spPr bwMode="auto">
          <a:xfrm>
            <a:off x="3000364" y="1928802"/>
            <a:ext cx="3500462" cy="4673297"/>
          </a:xfrm>
          <a:prstGeom prst="rect">
            <a:avLst/>
          </a:prstGeom>
          <a:noFill/>
        </p:spPr>
      </p:pic>
      <p:sp>
        <p:nvSpPr>
          <p:cNvPr id="8" name="Rectangle 7"/>
          <p:cNvSpPr/>
          <p:nvPr/>
        </p:nvSpPr>
        <p:spPr>
          <a:xfrm>
            <a:off x="3286116" y="1000108"/>
            <a:ext cx="2536272" cy="707886"/>
          </a:xfrm>
          <a:prstGeom prst="rect">
            <a:avLst/>
          </a:prstGeom>
          <a:noFill/>
        </p:spPr>
        <p:txBody>
          <a:bodyPr wrap="non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4000" b="1" cap="all" spc="0"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DAMS</a:t>
            </a:r>
            <a:endParaRPr lang="en-US" sz="4000" b="1" cap="all" spc="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Tree>
  </p:cSld>
  <p:clrMapOvr>
    <a:masterClrMapping/>
  </p:clrMapOvr>
  <p:transition spd="slow" advClick="0" advTm="2000">
    <p:diamon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8926" y="357166"/>
            <a:ext cx="3074560" cy="52322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28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SUPA DAM</a:t>
            </a:r>
            <a:endParaRPr lang="en-US" sz="28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2050" name="Picture 2" descr="Supa Dam | Dandeli Pool Resort"/>
          <p:cNvPicPr>
            <a:picLocks noChangeAspect="1" noChangeArrowheads="1"/>
          </p:cNvPicPr>
          <p:nvPr/>
        </p:nvPicPr>
        <p:blipFill>
          <a:blip r:embed="rId2"/>
          <a:srcRect/>
          <a:stretch>
            <a:fillRect/>
          </a:stretch>
        </p:blipFill>
        <p:spPr bwMode="auto">
          <a:xfrm>
            <a:off x="3786182" y="1428736"/>
            <a:ext cx="5072082" cy="5072082"/>
          </a:xfrm>
          <a:prstGeom prst="rect">
            <a:avLst/>
          </a:prstGeom>
          <a:noFill/>
        </p:spPr>
      </p:pic>
      <p:sp>
        <p:nvSpPr>
          <p:cNvPr id="7" name="TextBox 6"/>
          <p:cNvSpPr txBox="1"/>
          <p:nvPr/>
        </p:nvSpPr>
        <p:spPr>
          <a:xfrm>
            <a:off x="357159" y="1714489"/>
            <a:ext cx="3357586" cy="4708981"/>
          </a:xfrm>
          <a:prstGeom prst="rect">
            <a:avLst/>
          </a:prstGeom>
          <a:noFill/>
        </p:spPr>
        <p:txBody>
          <a:bodyPr wrap="square" rtlCol="0">
            <a:spAutoFit/>
          </a:bodyPr>
          <a:lstStyle/>
          <a:p>
            <a:r>
              <a:rPr lang="en-US" sz="1200" b="1" dirty="0" smtClean="0"/>
              <a:t>THIS IS ONE OF LARGEST DAMS IN THE WELL KNOWN DANDELLI PLACES TO VISIT . THIS DAM IS BUILT TO MANAGE THE WATER OF KALINADI RIVER</a:t>
            </a:r>
          </a:p>
          <a:p>
            <a:r>
              <a:rPr lang="en-US" sz="1200" b="1" dirty="0" smtClean="0"/>
              <a:t>………..</a:t>
            </a:r>
          </a:p>
          <a:p>
            <a:endParaRPr lang="en-US" sz="1200" b="1" dirty="0"/>
          </a:p>
          <a:p>
            <a:r>
              <a:rPr lang="en-US" sz="1200" b="1" dirty="0" smtClean="0"/>
              <a:t>THE DAM WAS BUILT BY HINDUSTAN STEEL WORKS CONSTRUTION LIMITED </a:t>
            </a:r>
          </a:p>
          <a:p>
            <a:r>
              <a:rPr lang="en-US" sz="1200" b="1" dirty="0" smtClean="0"/>
              <a:t>(HSCL) AND IS NOW OPERATED BY KARNATAKA</a:t>
            </a:r>
          </a:p>
          <a:p>
            <a:r>
              <a:rPr lang="en-US" sz="1200" b="1" dirty="0" smtClean="0"/>
              <a:t>POWER CORPORATION</a:t>
            </a:r>
          </a:p>
          <a:p>
            <a:r>
              <a:rPr lang="en-US" sz="1200" b="1" dirty="0" smtClean="0"/>
              <a:t>LIMITED</a:t>
            </a:r>
          </a:p>
          <a:p>
            <a:endParaRPr lang="en-US" sz="1200" b="1" dirty="0"/>
          </a:p>
          <a:p>
            <a:r>
              <a:rPr lang="en-US" sz="1200" b="1" dirty="0" smtClean="0"/>
              <a:t>BENEFITS OF LARGE DAMS</a:t>
            </a:r>
          </a:p>
          <a:p>
            <a:pPr>
              <a:buFont typeface="Arial" pitchFamily="34" charset="0"/>
              <a:buChar char="•"/>
            </a:pPr>
            <a:r>
              <a:rPr lang="en-US" sz="1200" b="1" dirty="0" smtClean="0"/>
              <a:t>WATER FOR DRINKING AND INDUSTRIAL USE</a:t>
            </a:r>
          </a:p>
          <a:p>
            <a:pPr>
              <a:buFont typeface="Arial" pitchFamily="34" charset="0"/>
              <a:buChar char="•"/>
            </a:pPr>
            <a:r>
              <a:rPr lang="en-US" sz="1200" b="1" dirty="0" smtClean="0"/>
              <a:t>IRRIGATION</a:t>
            </a:r>
          </a:p>
          <a:p>
            <a:pPr>
              <a:buFont typeface="Arial" pitchFamily="34" charset="0"/>
              <a:buChar char="•"/>
            </a:pPr>
            <a:r>
              <a:rPr lang="en-US" sz="1200" b="1" dirty="0" smtClean="0"/>
              <a:t>FLOOD CONTROL</a:t>
            </a:r>
          </a:p>
          <a:p>
            <a:pPr>
              <a:buFont typeface="Arial" pitchFamily="34" charset="0"/>
              <a:buChar char="•"/>
            </a:pPr>
            <a:r>
              <a:rPr lang="en-US" sz="1200" b="1" dirty="0" smtClean="0"/>
              <a:t>HYDRO POWER GENERATION.</a:t>
            </a:r>
          </a:p>
          <a:p>
            <a:pPr>
              <a:buFont typeface="Arial" pitchFamily="34" charset="0"/>
              <a:buChar char="•"/>
            </a:pPr>
            <a:r>
              <a:rPr lang="en-US" sz="1200" b="1" dirty="0" smtClean="0"/>
              <a:t>INLAND NAVIGATION.</a:t>
            </a:r>
          </a:p>
          <a:p>
            <a:pPr>
              <a:buFont typeface="Arial" pitchFamily="34" charset="0"/>
              <a:buChar char="•"/>
            </a:pPr>
            <a:r>
              <a:rPr lang="en-US" sz="1200" b="1" dirty="0" smtClean="0"/>
              <a:t>RECREATION</a:t>
            </a:r>
          </a:p>
        </p:txBody>
      </p:sp>
    </p:spTree>
  </p:cSld>
  <p:clrMapOvr>
    <a:masterClrMapping/>
  </p:clrMapOvr>
  <p:transition spd="slow" advClick="0" advTm="2000">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86116" y="285728"/>
            <a:ext cx="1872629" cy="400110"/>
          </a:xfrm>
          <a:prstGeom prst="rect">
            <a:avLst/>
          </a:prstGeom>
          <a:noFill/>
        </p:spPr>
        <p:txBody>
          <a:bodyPr wrap="none" lIns="91440" tIns="45720" rIns="91440" bIns="4572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r>
              <a:rPr lang="en-US" sz="2000" b="1" dirty="0" smtClean="0">
                <a:ln/>
                <a:solidFill>
                  <a:schemeClr val="accent3"/>
                </a:solidFill>
              </a:rPr>
              <a:t>BHADRA</a:t>
            </a:r>
            <a:endParaRPr lang="en-US" sz="2000" b="1" cap="none" spc="0" dirty="0">
              <a:ln/>
              <a:solidFill>
                <a:schemeClr val="accent3"/>
              </a:solidFill>
              <a:effectLst/>
            </a:endParaRPr>
          </a:p>
        </p:txBody>
      </p:sp>
      <p:sp>
        <p:nvSpPr>
          <p:cNvPr id="3" name="Rectangle 2"/>
          <p:cNvSpPr/>
          <p:nvPr/>
        </p:nvSpPr>
        <p:spPr>
          <a:xfrm>
            <a:off x="3643306" y="642918"/>
            <a:ext cx="1112805" cy="400110"/>
          </a:xfrm>
          <a:prstGeom prst="rect">
            <a:avLst/>
          </a:prstGeom>
          <a:noFill/>
        </p:spPr>
        <p:txBody>
          <a:bodyPr wrap="none" lIns="91440" tIns="45720" rIns="91440" bIns="4572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r>
              <a:rPr lang="en-US" sz="2000" b="1" dirty="0" smtClean="0">
                <a:ln/>
                <a:solidFill>
                  <a:schemeClr val="accent3"/>
                </a:solidFill>
              </a:rPr>
              <a:t>DAM</a:t>
            </a:r>
            <a:endParaRPr lang="en-US" sz="2000" b="1" cap="none" spc="0" dirty="0">
              <a:ln/>
              <a:solidFill>
                <a:schemeClr val="accent3"/>
              </a:solidFill>
              <a:effectLst/>
            </a:endParaRPr>
          </a:p>
        </p:txBody>
      </p:sp>
      <p:pic>
        <p:nvPicPr>
          <p:cNvPr id="15362" name="Picture 2" descr="Karnataka focus - Dams have harmed our wildlife and made... | Facebook"/>
          <p:cNvPicPr>
            <a:picLocks noChangeAspect="1" noChangeArrowheads="1"/>
          </p:cNvPicPr>
          <p:nvPr/>
        </p:nvPicPr>
        <p:blipFill>
          <a:blip r:embed="rId2"/>
          <a:srcRect/>
          <a:stretch>
            <a:fillRect/>
          </a:stretch>
        </p:blipFill>
        <p:spPr bwMode="auto">
          <a:xfrm>
            <a:off x="571472" y="1071546"/>
            <a:ext cx="2609853" cy="2507284"/>
          </a:xfrm>
          <a:prstGeom prst="rect">
            <a:avLst/>
          </a:prstGeom>
          <a:noFill/>
        </p:spPr>
      </p:pic>
      <p:sp>
        <p:nvSpPr>
          <p:cNvPr id="15364" name="AutoShape 4" descr="Bhadra Dam Chikmagalur (Entry Fee,Timings, History, Built by, Images &amp;  Location) - Chikmagalur Tourism 20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6" name="AutoShape 6" descr="Bhadra Dam Chikmagalur (Entry Fee,Timings, History, Built by, Images &amp;  Location) - Chikmagalur Tourism 20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8" name="AutoShape 8" descr="Bhadra Dam Chikmagalur (Entry Fee,Timings, History, Built by, Images &amp;  Location) - Chikmagalur Tourism 20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70" name="AutoShape 10" descr="Bhadra Dam Chikmagalur (Entry Fee,Timings, History, Built by, Images &amp;  Location) - Chikmagalur Tourism 20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72" name="AutoShape 12" descr="Bhadra Dam Chikmagalur (Entry Fee,Timings, History, Built by, Images &amp;  Location) - Chikmagalur Tourism 20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74" name="AutoShape 14" descr="Bhadra Dam Chikmagalur (Entry Fee,Timings, History, Built by, Images &amp;  Location) - Chikmagalur Tourism 20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76" name="AutoShape 16" descr="Bhadra Dam Chikmagalur (Entry Fee,Timings, History, Built by, Images &amp;  Location) - Chikmagalur Tourism 20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78" name="AutoShape 18" descr="Bhadra Dam Chikmagalur (Entry Fee,Timings, History, Built by, Images &amp;  Location) - Chikmagalur Tourism 20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80" name="AutoShape 20" descr="Bhadra Dam Chikmagalur (Entry Fee,Timings, History, Built by, Images &amp;  Location) - Chikmagalur Tourism 202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5382" name="Picture 22" descr="Bhadra Dam Chikmagalur (Entry Fee,Timings, History, Built by, Images &amp;  Location) - Chikmagalur Tourism 2023"/>
          <p:cNvPicPr>
            <a:picLocks noChangeAspect="1" noChangeArrowheads="1"/>
          </p:cNvPicPr>
          <p:nvPr/>
        </p:nvPicPr>
        <p:blipFill>
          <a:blip r:embed="rId3"/>
          <a:srcRect/>
          <a:stretch>
            <a:fillRect/>
          </a:stretch>
        </p:blipFill>
        <p:spPr bwMode="auto">
          <a:xfrm>
            <a:off x="3786182" y="1214422"/>
            <a:ext cx="4786346" cy="2393174"/>
          </a:xfrm>
          <a:prstGeom prst="rect">
            <a:avLst/>
          </a:prstGeom>
          <a:noFill/>
        </p:spPr>
      </p:pic>
      <p:sp>
        <p:nvSpPr>
          <p:cNvPr id="15" name="TextBox 14"/>
          <p:cNvSpPr txBox="1"/>
          <p:nvPr/>
        </p:nvSpPr>
        <p:spPr>
          <a:xfrm>
            <a:off x="571472" y="3714752"/>
            <a:ext cx="8143932" cy="2862322"/>
          </a:xfrm>
          <a:prstGeom prst="rect">
            <a:avLst/>
          </a:prstGeom>
          <a:noFill/>
        </p:spPr>
        <p:txBody>
          <a:bodyPr wrap="square" rtlCol="0">
            <a:spAutoFit/>
          </a:bodyPr>
          <a:lstStyle/>
          <a:p>
            <a:r>
              <a:rPr lang="en-US" sz="1200" dirty="0" smtClean="0"/>
              <a:t>The </a:t>
            </a:r>
            <a:r>
              <a:rPr lang="en-US" sz="1200" dirty="0" err="1" smtClean="0"/>
              <a:t>bhadra</a:t>
            </a:r>
            <a:r>
              <a:rPr lang="en-US" sz="1200" dirty="0" smtClean="0"/>
              <a:t> dam or </a:t>
            </a:r>
            <a:r>
              <a:rPr lang="en-US" sz="1200" dirty="0" err="1" smtClean="0"/>
              <a:t>lakkavalli</a:t>
            </a:r>
            <a:r>
              <a:rPr lang="en-US" sz="1200" dirty="0" smtClean="0"/>
              <a:t> dam, which has created the </a:t>
            </a:r>
            <a:r>
              <a:rPr lang="en-US" sz="1200" dirty="0" err="1" smtClean="0"/>
              <a:t>bhadra</a:t>
            </a:r>
            <a:r>
              <a:rPr lang="en-US" sz="1200" dirty="0" smtClean="0"/>
              <a:t> reservoir, is located on the </a:t>
            </a:r>
            <a:r>
              <a:rPr lang="en-US" sz="1200" dirty="0" err="1" smtClean="0"/>
              <a:t>bhadra</a:t>
            </a:r>
            <a:r>
              <a:rPr lang="en-US" sz="1200" dirty="0" smtClean="0"/>
              <a:t> river a tributary of </a:t>
            </a:r>
            <a:r>
              <a:rPr lang="en-US" sz="1200" dirty="0" err="1" smtClean="0"/>
              <a:t>tungabhadra</a:t>
            </a:r>
            <a:r>
              <a:rPr lang="en-US" sz="1200" dirty="0" smtClean="0"/>
              <a:t> and </a:t>
            </a:r>
            <a:r>
              <a:rPr lang="en-US" sz="1200" dirty="0" err="1" smtClean="0"/>
              <a:t>tarikere</a:t>
            </a:r>
            <a:r>
              <a:rPr lang="en-US" sz="1200" dirty="0" smtClean="0"/>
              <a:t>, in the western part of </a:t>
            </a:r>
            <a:r>
              <a:rPr lang="en-US" sz="1200" dirty="0" err="1" smtClean="0"/>
              <a:t>karnataka</a:t>
            </a:r>
            <a:r>
              <a:rPr lang="en-US" sz="1200" dirty="0" smtClean="0"/>
              <a:t> in </a:t>
            </a:r>
            <a:r>
              <a:rPr lang="en-US" sz="1200" dirty="0" err="1" smtClean="0"/>
              <a:t>india</a:t>
            </a:r>
            <a:r>
              <a:rPr lang="en-US" sz="1200" dirty="0" smtClean="0"/>
              <a:t>.</a:t>
            </a:r>
          </a:p>
          <a:p>
            <a:endParaRPr lang="en-US" sz="1200" dirty="0" smtClean="0"/>
          </a:p>
          <a:p>
            <a:endParaRPr lang="en-US" sz="1200" dirty="0" smtClean="0"/>
          </a:p>
          <a:p>
            <a:pPr>
              <a:buFont typeface="Arial" pitchFamily="34" charset="0"/>
              <a:buChar char="•"/>
            </a:pPr>
            <a:r>
              <a:rPr lang="en-US" sz="1200" dirty="0" smtClean="0"/>
              <a:t>What is </a:t>
            </a:r>
            <a:r>
              <a:rPr lang="en-US" sz="1200" dirty="0" err="1" smtClean="0"/>
              <a:t>thehistory</a:t>
            </a:r>
            <a:r>
              <a:rPr lang="en-US" sz="1200" dirty="0" smtClean="0"/>
              <a:t> of </a:t>
            </a:r>
            <a:r>
              <a:rPr lang="en-US" sz="1200" dirty="0" err="1" smtClean="0"/>
              <a:t>bhadra</a:t>
            </a:r>
            <a:r>
              <a:rPr lang="en-US" sz="1200" dirty="0" smtClean="0"/>
              <a:t> dam?</a:t>
            </a:r>
          </a:p>
          <a:p>
            <a:r>
              <a:rPr lang="en-US" sz="1200" dirty="0" smtClean="0"/>
              <a:t> </a:t>
            </a:r>
            <a:r>
              <a:rPr lang="en-US" sz="1200" dirty="0" smtClean="0"/>
              <a:t> </a:t>
            </a:r>
            <a:r>
              <a:rPr lang="en-US" sz="1200" dirty="0" err="1" smtClean="0"/>
              <a:t>thouigh</a:t>
            </a:r>
            <a:r>
              <a:rPr lang="en-US" sz="1200" dirty="0" smtClean="0"/>
              <a:t> construction started in 1947, this multipurpose dam, (194 ft ,in height , 5604 ft in </a:t>
            </a:r>
            <a:r>
              <a:rPr lang="en-US" sz="1200" dirty="0" err="1" smtClean="0"/>
              <a:t>lenth</a:t>
            </a:r>
            <a:r>
              <a:rPr lang="en-US" sz="1200" dirty="0" smtClean="0"/>
              <a:t>) could not be commission till 1965. built across </a:t>
            </a:r>
            <a:r>
              <a:rPr lang="en-US" sz="1200" dirty="0" err="1" smtClean="0"/>
              <a:t>bhadra</a:t>
            </a:r>
            <a:r>
              <a:rPr lang="en-US" sz="1200" dirty="0" smtClean="0"/>
              <a:t> river , it is </a:t>
            </a:r>
            <a:r>
              <a:rPr lang="en-US" sz="1200" dirty="0" err="1" smtClean="0"/>
              <a:t>tarikere</a:t>
            </a:r>
            <a:r>
              <a:rPr lang="en-US" sz="1200" dirty="0" smtClean="0"/>
              <a:t> </a:t>
            </a:r>
            <a:r>
              <a:rPr lang="en-US" sz="1200" dirty="0" err="1" smtClean="0"/>
              <a:t>taluk</a:t>
            </a:r>
            <a:r>
              <a:rPr lang="en-US" sz="1200" dirty="0" smtClean="0"/>
              <a:t> . The dam , named after this village , is better known as </a:t>
            </a:r>
            <a:r>
              <a:rPr lang="en-US" sz="1200" dirty="0" err="1" smtClean="0"/>
              <a:t>lakkavalli</a:t>
            </a:r>
            <a:r>
              <a:rPr lang="en-US" sz="1200" dirty="0" smtClean="0"/>
              <a:t> dam.</a:t>
            </a:r>
          </a:p>
          <a:p>
            <a:endParaRPr lang="en-US" sz="1200" dirty="0" smtClean="0"/>
          </a:p>
          <a:p>
            <a:endParaRPr lang="en-US" sz="1200" dirty="0" smtClean="0"/>
          </a:p>
          <a:p>
            <a:endParaRPr lang="en-US" sz="1200" dirty="0" smtClean="0"/>
          </a:p>
          <a:p>
            <a:endParaRPr lang="en-US" sz="1200" dirty="0" smtClean="0"/>
          </a:p>
          <a:p>
            <a:r>
              <a:rPr lang="en-US" sz="1200" dirty="0" smtClean="0"/>
              <a:t>______                             </a:t>
            </a:r>
            <a:endParaRPr lang="en-US" sz="1200" dirty="0" smtClean="0"/>
          </a:p>
        </p:txBody>
      </p:sp>
    </p:spTree>
  </p:cSld>
  <p:clrMapOvr>
    <a:masterClrMapping/>
  </p:clrMapOvr>
  <p:transition spd="slow" advClick="0" advTm="2000">
    <p:whee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8992" y="142852"/>
            <a:ext cx="1963999" cy="400110"/>
          </a:xfrm>
          <a:prstGeom prst="rect">
            <a:avLst/>
          </a:prstGeom>
          <a:noFill/>
        </p:spPr>
        <p:txBody>
          <a:bodyPr wrap="none" lIns="91440" tIns="45720" rIns="91440" bIns="45720">
            <a:spAutoFit/>
          </a:bodyPr>
          <a:lstStyle/>
          <a:p>
            <a:pPr algn="ctr"/>
            <a:r>
              <a:rPr lang="en-US" sz="2000" b="1" dirty="0" err="1"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lgerian" pitchFamily="82" charset="0"/>
              </a:rPr>
              <a:t>krishna</a:t>
            </a:r>
            <a:endParaRPr lang="en-US" sz="20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lgerian" pitchFamily="82" charset="0"/>
            </a:endParaRPr>
          </a:p>
        </p:txBody>
      </p:sp>
      <p:sp>
        <p:nvSpPr>
          <p:cNvPr id="3" name="Rectangle 2"/>
          <p:cNvSpPr/>
          <p:nvPr/>
        </p:nvSpPr>
        <p:spPr>
          <a:xfrm>
            <a:off x="3714744" y="500042"/>
            <a:ext cx="1359668" cy="400110"/>
          </a:xfrm>
          <a:prstGeom prst="rect">
            <a:avLst/>
          </a:prstGeom>
          <a:noFill/>
        </p:spPr>
        <p:txBody>
          <a:bodyPr wrap="none" lIns="91440" tIns="45720" rIns="91440" bIns="45720">
            <a:spAutoFit/>
          </a:bodyPr>
          <a:lstStyle/>
          <a:p>
            <a:pPr algn="ctr"/>
            <a:r>
              <a:rPr lang="en-US" sz="2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lgerian" pitchFamily="82" charset="0"/>
              </a:rPr>
              <a:t>DAMS</a:t>
            </a:r>
            <a:endParaRPr lang="en-US" sz="20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lgerian" pitchFamily="82" charset="0"/>
            </a:endParaRPr>
          </a:p>
        </p:txBody>
      </p:sp>
      <p:sp>
        <p:nvSpPr>
          <p:cNvPr id="1026" name="AutoShape 2" descr="Krishna Raja Sagara Dam, Mandya | When to Visit, Images &amp; Videos, Guid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8" name="Picture 4" descr="Krishna Raja Sagara Dam, Mandya | When to Visit, Images &amp; Videos, Guide"/>
          <p:cNvPicPr>
            <a:picLocks noChangeAspect="1" noChangeArrowheads="1"/>
          </p:cNvPicPr>
          <p:nvPr/>
        </p:nvPicPr>
        <p:blipFill>
          <a:blip r:embed="rId2"/>
          <a:srcRect/>
          <a:stretch>
            <a:fillRect/>
          </a:stretch>
        </p:blipFill>
        <p:spPr bwMode="auto">
          <a:xfrm>
            <a:off x="857224" y="1071547"/>
            <a:ext cx="3571900" cy="2768722"/>
          </a:xfrm>
          <a:prstGeom prst="rect">
            <a:avLst/>
          </a:prstGeom>
          <a:noFill/>
        </p:spPr>
      </p:pic>
      <p:pic>
        <p:nvPicPr>
          <p:cNvPr id="1030" name="Picture 6" descr="Krs dam hi-res stock photography and images - Alamy"/>
          <p:cNvPicPr>
            <a:picLocks noChangeAspect="1" noChangeArrowheads="1"/>
          </p:cNvPicPr>
          <p:nvPr/>
        </p:nvPicPr>
        <p:blipFill>
          <a:blip r:embed="rId3"/>
          <a:srcRect/>
          <a:stretch>
            <a:fillRect/>
          </a:stretch>
        </p:blipFill>
        <p:spPr bwMode="auto">
          <a:xfrm>
            <a:off x="4429124" y="1071546"/>
            <a:ext cx="4143404" cy="3053370"/>
          </a:xfrm>
          <a:prstGeom prst="rect">
            <a:avLst/>
          </a:prstGeom>
          <a:noFill/>
        </p:spPr>
      </p:pic>
      <p:sp>
        <p:nvSpPr>
          <p:cNvPr id="7" name="Rectangle 6"/>
          <p:cNvSpPr/>
          <p:nvPr/>
        </p:nvSpPr>
        <p:spPr>
          <a:xfrm>
            <a:off x="500034" y="4000504"/>
            <a:ext cx="7643850" cy="1754326"/>
          </a:xfrm>
          <a:prstGeom prst="rect">
            <a:avLst/>
          </a:prstGeom>
        </p:spPr>
        <p:txBody>
          <a:bodyPr wrap="square">
            <a:spAutoFit/>
          </a:bodyPr>
          <a:lstStyle/>
          <a:p>
            <a:r>
              <a:rPr lang="en-US" sz="1200" dirty="0" smtClean="0"/>
              <a:t>Krishna Raja </a:t>
            </a:r>
            <a:r>
              <a:rPr lang="en-US" sz="1200" dirty="0" err="1" smtClean="0"/>
              <a:t>Sagar</a:t>
            </a:r>
            <a:r>
              <a:rPr lang="en-US" sz="1200" dirty="0" smtClean="0"/>
              <a:t> Dam or </a:t>
            </a:r>
            <a:r>
              <a:rPr lang="en-US" sz="1200" b="1" dirty="0" smtClean="0"/>
              <a:t>KRS Dam in Mysore</a:t>
            </a:r>
            <a:r>
              <a:rPr lang="en-US" sz="1200" dirty="0" smtClean="0"/>
              <a:t> is a popular tourist attraction. It is located in </a:t>
            </a:r>
            <a:r>
              <a:rPr lang="en-US" sz="1200" dirty="0" err="1" smtClean="0"/>
              <a:t>Krishnarajasagara</a:t>
            </a:r>
            <a:r>
              <a:rPr lang="en-US" sz="1200" dirty="0" smtClean="0"/>
              <a:t>, </a:t>
            </a:r>
            <a:r>
              <a:rPr lang="en-US" sz="1200" dirty="0" err="1" smtClean="0"/>
              <a:t>Mysuru</a:t>
            </a:r>
            <a:r>
              <a:rPr lang="en-US" sz="1200" dirty="0" smtClean="0"/>
              <a:t>, Karnataka. KRS Dam is an important source of drinking water for the cities of Mysore and Bangalore. The River Cauvery accounts for the main supply of water harnessed from the dam. The dam is another main source of irrigation water in Mysore and </a:t>
            </a:r>
            <a:r>
              <a:rPr lang="en-US" sz="1200" dirty="0" err="1" smtClean="0"/>
              <a:t>Mandya</a:t>
            </a:r>
            <a:r>
              <a:rPr lang="en-US" sz="1200" dirty="0" smtClean="0"/>
              <a:t>. </a:t>
            </a:r>
            <a:r>
              <a:rPr lang="en-US" sz="1200" b="1" dirty="0" smtClean="0"/>
              <a:t>Krishna Raja </a:t>
            </a:r>
            <a:r>
              <a:rPr lang="en-US" sz="1200" b="1" dirty="0" err="1" smtClean="0"/>
              <a:t>Sagar</a:t>
            </a:r>
            <a:r>
              <a:rPr lang="en-US" sz="1200" b="1" dirty="0" smtClean="0"/>
              <a:t> Dam in Mysore</a:t>
            </a:r>
            <a:r>
              <a:rPr lang="en-US" sz="1200" dirty="0" smtClean="0"/>
              <a:t> is considered as the first irrigation dam of India. People from nearby cities can easily come here for a visit as it is well-connected by roads and rails. </a:t>
            </a:r>
            <a:endParaRPr lang="en-US" sz="1200" dirty="0"/>
          </a:p>
        </p:txBody>
      </p:sp>
      <p:sp>
        <p:nvSpPr>
          <p:cNvPr id="10" name="Rectangle 9"/>
          <p:cNvSpPr/>
          <p:nvPr/>
        </p:nvSpPr>
        <p:spPr>
          <a:xfrm>
            <a:off x="571472" y="5857892"/>
            <a:ext cx="4572000" cy="646331"/>
          </a:xfrm>
          <a:prstGeom prst="rect">
            <a:avLst/>
          </a:prstGeom>
        </p:spPr>
        <p:txBody>
          <a:bodyPr>
            <a:spAutoFit/>
          </a:bodyPr>
          <a:lstStyle/>
          <a:p>
            <a:r>
              <a:rPr lang="en-US" sz="1200" dirty="0" smtClean="0"/>
              <a:t>The </a:t>
            </a:r>
            <a:r>
              <a:rPr lang="en-US" sz="1200" dirty="0" err="1" smtClean="0"/>
              <a:t>Almatti</a:t>
            </a:r>
            <a:r>
              <a:rPr lang="en-US" sz="1200" dirty="0" smtClean="0"/>
              <a:t> Dam is a dam project on the Krishna River in North Karnataka, India which was completed in July 2005.</a:t>
            </a:r>
            <a:endParaRPr lang="en-US" sz="1200" dirty="0"/>
          </a:p>
        </p:txBody>
      </p:sp>
    </p:spTree>
  </p:cSld>
  <p:clrMapOvr>
    <a:masterClrMapping/>
  </p:clrMapOvr>
  <p:transition spd="slow" advClick="0" advTm="2000">
    <p:strips dir="l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28926" y="214290"/>
            <a:ext cx="3357586" cy="400110"/>
          </a:xfrm>
          <a:prstGeom prst="rect">
            <a:avLst/>
          </a:prstGeom>
          <a:noFill/>
        </p:spPr>
        <p:txBody>
          <a:bodyPr wrap="square" lIns="91440" tIns="45720" rIns="91440" bIns="45720">
            <a:spAutoFit/>
          </a:bodyPr>
          <a:lstStyle/>
          <a:p>
            <a:pPr algn="ctr"/>
            <a:r>
              <a:rPr lang="en-US" sz="20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Arial Rounded MT Bold" pitchFamily="34" charset="0"/>
              </a:rPr>
              <a:t>MALAPRABHA</a:t>
            </a:r>
            <a:endParaRPr lang="en-US" sz="20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Arial Rounded MT Bold" pitchFamily="34" charset="0"/>
            </a:endParaRPr>
          </a:p>
        </p:txBody>
      </p:sp>
      <p:pic>
        <p:nvPicPr>
          <p:cNvPr id="17410" name="Picture 2" descr="Malaprabha River"/>
          <p:cNvPicPr>
            <a:picLocks noChangeAspect="1" noChangeArrowheads="1"/>
          </p:cNvPicPr>
          <p:nvPr/>
        </p:nvPicPr>
        <p:blipFill>
          <a:blip r:embed="rId2"/>
          <a:srcRect/>
          <a:stretch>
            <a:fillRect/>
          </a:stretch>
        </p:blipFill>
        <p:spPr bwMode="auto">
          <a:xfrm>
            <a:off x="500034" y="1000108"/>
            <a:ext cx="2333625" cy="1933576"/>
          </a:xfrm>
          <a:prstGeom prst="rect">
            <a:avLst/>
          </a:prstGeom>
          <a:noFill/>
        </p:spPr>
      </p:pic>
      <p:pic>
        <p:nvPicPr>
          <p:cNvPr id="17412" name="Picture 4" descr="Malaprabha Dam Munavalli - YouTube"/>
          <p:cNvPicPr>
            <a:picLocks noChangeAspect="1" noChangeArrowheads="1"/>
          </p:cNvPicPr>
          <p:nvPr/>
        </p:nvPicPr>
        <p:blipFill>
          <a:blip r:embed="rId3"/>
          <a:srcRect/>
          <a:stretch>
            <a:fillRect/>
          </a:stretch>
        </p:blipFill>
        <p:spPr bwMode="auto">
          <a:xfrm>
            <a:off x="3357554" y="1000108"/>
            <a:ext cx="2466975" cy="1847851"/>
          </a:xfrm>
          <a:prstGeom prst="rect">
            <a:avLst/>
          </a:prstGeom>
          <a:noFill/>
        </p:spPr>
      </p:pic>
      <p:sp>
        <p:nvSpPr>
          <p:cNvPr id="17414" name="AutoShape 6" descr="Beauty of Malaprabha Dam #Saundatti...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6" name="AutoShape 8" descr="Beauty of Malaprabha Dam #Saundatti...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18" name="AutoShape 10" descr="Beauty of Malaprabha Dam #Saundatti...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20" name="AutoShape 12" descr="Beauty of Malaprabha Dam #Saundatti...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22" name="AutoShape 14" descr="Beauty of Malaprabha Dam #Saundatti...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24" name="AutoShape 16" descr="Beauty of Malaprabha Dam #Saundatti...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26" name="AutoShape 18" descr="Beauty of Malaprabha Dam #Saundatti...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28" name="AutoShape 20" descr="Beauty of Malaprabha Dam #Saundatti...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30" name="AutoShape 22" descr="Beauty of Malaprabha Dam #Saundatti...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32" name="AutoShape 24" descr="Beauty of Malaprabha Dam #Saundatti...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34" name="AutoShape 26" descr="Beauty of Malaprabha Dam #Saundatti...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36" name="AutoShape 28" descr="Beauty of Malaprabha Dam #Saundatti...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7438" name="AutoShape 30" descr="Beauty of Malaprabha Dam #Saundatti...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7440" name="Picture 32" descr="4+ Free Malaprabha Dam &amp; Cliff Images - Pixabay"/>
          <p:cNvPicPr>
            <a:picLocks noChangeAspect="1" noChangeArrowheads="1"/>
          </p:cNvPicPr>
          <p:nvPr/>
        </p:nvPicPr>
        <p:blipFill>
          <a:blip r:embed="rId4"/>
          <a:srcRect/>
          <a:stretch>
            <a:fillRect/>
          </a:stretch>
        </p:blipFill>
        <p:spPr bwMode="auto">
          <a:xfrm>
            <a:off x="6143636" y="1000108"/>
            <a:ext cx="2466975" cy="1847851"/>
          </a:xfrm>
          <a:prstGeom prst="rect">
            <a:avLst/>
          </a:prstGeom>
          <a:noFill/>
        </p:spPr>
      </p:pic>
      <p:sp>
        <p:nvSpPr>
          <p:cNvPr id="21" name="Rectangle 20"/>
          <p:cNvSpPr/>
          <p:nvPr/>
        </p:nvSpPr>
        <p:spPr>
          <a:xfrm>
            <a:off x="571472" y="3143248"/>
            <a:ext cx="6215090" cy="3416320"/>
          </a:xfrm>
          <a:prstGeom prst="rect">
            <a:avLst/>
          </a:prstGeom>
        </p:spPr>
        <p:txBody>
          <a:bodyPr wrap="square">
            <a:spAutoFit/>
          </a:bodyPr>
          <a:lstStyle/>
          <a:p>
            <a:r>
              <a:rPr lang="en-US" dirty="0" smtClean="0"/>
              <a:t>The </a:t>
            </a:r>
            <a:r>
              <a:rPr lang="en-US" dirty="0" err="1" smtClean="0"/>
              <a:t>Malaprabha</a:t>
            </a:r>
            <a:r>
              <a:rPr lang="en-US" dirty="0" smtClean="0"/>
              <a:t> dam is the shortest dam in Karnataka. It was built across the </a:t>
            </a:r>
            <a:r>
              <a:rPr lang="en-US" dirty="0" err="1" smtClean="0"/>
              <a:t>Malaprabha</a:t>
            </a:r>
            <a:r>
              <a:rPr lang="en-US" dirty="0" smtClean="0"/>
              <a:t> river in Belgaum. It is a tributary of the famous Krishna river. It is located in small town called </a:t>
            </a:r>
            <a:r>
              <a:rPr lang="en-US" dirty="0" err="1" smtClean="0"/>
              <a:t>Saundatti</a:t>
            </a:r>
            <a:r>
              <a:rPr lang="en-US" dirty="0" smtClean="0"/>
              <a:t> in </a:t>
            </a:r>
            <a:r>
              <a:rPr lang="en-US" dirty="0" err="1" smtClean="0"/>
              <a:t>Belagavi</a:t>
            </a:r>
            <a:r>
              <a:rPr lang="en-US" dirty="0" smtClean="0"/>
              <a:t>.</a:t>
            </a:r>
          </a:p>
          <a:p>
            <a:r>
              <a:rPr lang="en-US" dirty="0" smtClean="0"/>
              <a:t>This dam has been designed to meet the drinking water requirements of the people of Belgaum, </a:t>
            </a:r>
            <a:r>
              <a:rPr lang="en-US" dirty="0" err="1" smtClean="0"/>
              <a:t>Dharwad</a:t>
            </a:r>
            <a:r>
              <a:rPr lang="en-US" dirty="0" smtClean="0"/>
              <a:t>, </a:t>
            </a:r>
            <a:r>
              <a:rPr lang="en-US" dirty="0" err="1" smtClean="0"/>
              <a:t>Gadag</a:t>
            </a:r>
            <a:r>
              <a:rPr lang="en-US" dirty="0" smtClean="0"/>
              <a:t> and </a:t>
            </a:r>
            <a:r>
              <a:rPr lang="en-US" dirty="0" err="1" smtClean="0"/>
              <a:t>Bagalkot</a:t>
            </a:r>
            <a:r>
              <a:rPr lang="en-US" dirty="0" smtClean="0"/>
              <a:t>.</a:t>
            </a:r>
          </a:p>
          <a:p>
            <a:r>
              <a:rPr lang="en-US" b="1" dirty="0" smtClean="0"/>
              <a:t>Check out:</a:t>
            </a:r>
            <a:r>
              <a:rPr lang="en-US" dirty="0" smtClean="0"/>
              <a:t> </a:t>
            </a:r>
            <a:r>
              <a:rPr lang="en-US" b="1" dirty="0" smtClean="0">
                <a:hlinkClick r:id="rId5"/>
              </a:rPr>
              <a:t>The </a:t>
            </a:r>
            <a:r>
              <a:rPr lang="en-US" b="1" dirty="0" err="1" smtClean="0">
                <a:hlinkClick r:id="rId5"/>
              </a:rPr>
              <a:t>Shirur</a:t>
            </a:r>
            <a:r>
              <a:rPr lang="en-US" b="1" dirty="0" smtClean="0">
                <a:hlinkClick r:id="rId5"/>
              </a:rPr>
              <a:t> Dam In Belgaum</a:t>
            </a:r>
            <a:endParaRPr lang="en-US" dirty="0"/>
          </a:p>
        </p:txBody>
      </p:sp>
    </p:spTree>
  </p:cSld>
  <p:clrMapOvr>
    <a:masterClrMapping/>
  </p:clrMapOvr>
  <p:transition spd="slow" advClick="0" advTm="2000">
    <p:comb/>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12" y="142852"/>
            <a:ext cx="3365024" cy="400110"/>
          </a:xfrm>
          <a:prstGeom prst="rect">
            <a:avLst/>
          </a:prstGeom>
          <a:noFill/>
        </p:spPr>
        <p:txBody>
          <a:bodyPr wrap="none" lIns="91440" tIns="45720" rIns="91440" bIns="45720">
            <a:spAutoFit/>
          </a:bodyPr>
          <a:lstStyle/>
          <a:p>
            <a:pPr algn="ctr"/>
            <a:r>
              <a:rPr lang="en-US" sz="2000" b="1" cap="none"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TUNGABHADRA</a:t>
            </a:r>
            <a:endParaRPr lang="en-US" sz="2000" b="1" cap="none"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p:txBody>
      </p:sp>
      <p:sp>
        <p:nvSpPr>
          <p:cNvPr id="18434" name="AutoShape 2" descr="Tungabhadra Dam night view ❤️ Follow... - Marvelous belgaum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8436" name="Picture 4" descr="Tungabhadra Dam - Wikipedia"/>
          <p:cNvPicPr>
            <a:picLocks noChangeAspect="1" noChangeArrowheads="1"/>
          </p:cNvPicPr>
          <p:nvPr/>
        </p:nvPicPr>
        <p:blipFill>
          <a:blip r:embed="rId2" cstate="print"/>
          <a:srcRect/>
          <a:stretch>
            <a:fillRect/>
          </a:stretch>
        </p:blipFill>
        <p:spPr bwMode="auto">
          <a:xfrm>
            <a:off x="285720" y="857232"/>
            <a:ext cx="3357586" cy="1544660"/>
          </a:xfrm>
          <a:prstGeom prst="rect">
            <a:avLst/>
          </a:prstGeom>
          <a:noFill/>
        </p:spPr>
      </p:pic>
      <p:pic>
        <p:nvPicPr>
          <p:cNvPr id="18438" name="Picture 6" descr="Parallel dam on Tungabhadra: Telangana may not object to Karnataka's plan-  The New Indian Express"/>
          <p:cNvPicPr>
            <a:picLocks noChangeAspect="1" noChangeArrowheads="1"/>
          </p:cNvPicPr>
          <p:nvPr/>
        </p:nvPicPr>
        <p:blipFill>
          <a:blip r:embed="rId3"/>
          <a:srcRect/>
          <a:stretch>
            <a:fillRect/>
          </a:stretch>
        </p:blipFill>
        <p:spPr bwMode="auto">
          <a:xfrm>
            <a:off x="4214810" y="714356"/>
            <a:ext cx="4286280" cy="2387072"/>
          </a:xfrm>
          <a:prstGeom prst="rect">
            <a:avLst/>
          </a:prstGeom>
          <a:noFill/>
        </p:spPr>
      </p:pic>
      <p:sp>
        <p:nvSpPr>
          <p:cNvPr id="6" name="Rectangle 5"/>
          <p:cNvSpPr/>
          <p:nvPr/>
        </p:nvSpPr>
        <p:spPr>
          <a:xfrm>
            <a:off x="1285852" y="3214686"/>
            <a:ext cx="7000908" cy="3485570"/>
          </a:xfrm>
          <a:prstGeom prst="rect">
            <a:avLst/>
          </a:prstGeom>
        </p:spPr>
        <p:txBody>
          <a:bodyPr wrap="square">
            <a:spAutoFit/>
          </a:bodyPr>
          <a:lstStyle/>
          <a:p>
            <a:r>
              <a:rPr lang="en-US" sz="1050" dirty="0" smtClean="0"/>
              <a:t>The </a:t>
            </a:r>
            <a:r>
              <a:rPr lang="en-US" sz="1050" b="1" dirty="0" smtClean="0"/>
              <a:t>Tungabhadra Dam</a:t>
            </a:r>
            <a:r>
              <a:rPr lang="en-US" sz="1050" dirty="0" smtClean="0"/>
              <a:t>, also known as </a:t>
            </a:r>
            <a:r>
              <a:rPr lang="en-US" sz="1050" b="1" dirty="0" smtClean="0"/>
              <a:t>Pampa </a:t>
            </a:r>
            <a:r>
              <a:rPr lang="en-US" sz="1050" b="1" dirty="0" err="1" smtClean="0"/>
              <a:t>Sagar</a:t>
            </a:r>
            <a:r>
              <a:rPr lang="en-US" sz="1050" dirty="0" smtClean="0"/>
              <a:t>, is a water reservoir constructed across the </a:t>
            </a:r>
            <a:r>
              <a:rPr lang="en-US" sz="1050" dirty="0" smtClean="0">
                <a:hlinkClick r:id="rId4" tooltip="Tungabhadra River"/>
              </a:rPr>
              <a:t>Tungabhadra River</a:t>
            </a:r>
            <a:r>
              <a:rPr lang="en-US" sz="1050" dirty="0" smtClean="0"/>
              <a:t> in the city of </a:t>
            </a:r>
            <a:r>
              <a:rPr lang="en-US" sz="1050" dirty="0" err="1" smtClean="0">
                <a:hlinkClick r:id="rId5" tooltip="Hosapete"/>
              </a:rPr>
              <a:t>Hosapete</a:t>
            </a:r>
            <a:r>
              <a:rPr lang="en-US" sz="1050" dirty="0" smtClean="0"/>
              <a:t> in </a:t>
            </a:r>
            <a:r>
              <a:rPr lang="en-US" sz="1050" dirty="0" err="1" smtClean="0">
                <a:hlinkClick r:id="rId6" tooltip="Vijayanagara district"/>
              </a:rPr>
              <a:t>Vijayanagara</a:t>
            </a:r>
            <a:r>
              <a:rPr lang="en-US" sz="1050" dirty="0" smtClean="0">
                <a:hlinkClick r:id="rId6" tooltip="Vijayanagara district"/>
              </a:rPr>
              <a:t> district</a:t>
            </a:r>
            <a:r>
              <a:rPr lang="en-US" sz="1050" dirty="0" smtClean="0"/>
              <a:t>, </a:t>
            </a:r>
            <a:r>
              <a:rPr lang="en-US" sz="1050" dirty="0" smtClean="0">
                <a:hlinkClick r:id="rId7" tooltip="Karnataka"/>
              </a:rPr>
              <a:t>Karnataka</a:t>
            </a:r>
            <a:r>
              <a:rPr lang="en-US" sz="1050" dirty="0" smtClean="0"/>
              <a:t>, </a:t>
            </a:r>
            <a:r>
              <a:rPr lang="en-US" sz="1050" dirty="0" smtClean="0">
                <a:hlinkClick r:id="rId8" tooltip="India"/>
              </a:rPr>
              <a:t>India</a:t>
            </a:r>
            <a:r>
              <a:rPr lang="en-US" sz="1050" dirty="0" smtClean="0"/>
              <a:t>. It is a multipurpose dam serving irrigation, electricity generation, flood control, </a:t>
            </a:r>
            <a:r>
              <a:rPr lang="en-US" sz="1050" i="1" dirty="0" smtClean="0"/>
              <a:t>etc</a:t>
            </a:r>
            <a:r>
              <a:rPr lang="en-US" sz="1050" dirty="0" smtClean="0"/>
              <a:t>. for the state. It is one of the only two non-cement dams in India, the other being the </a:t>
            </a:r>
            <a:r>
              <a:rPr lang="en-US" sz="1050" dirty="0" err="1" smtClean="0">
                <a:hlinkClick r:id="rId9" tooltip="Mullaperiyar Dam"/>
              </a:rPr>
              <a:t>Mullaperiyar</a:t>
            </a:r>
            <a:r>
              <a:rPr lang="en-US" sz="1050" dirty="0" smtClean="0">
                <a:hlinkClick r:id="rId9" tooltip="Mullaperiyar Dam"/>
              </a:rPr>
              <a:t> Dam</a:t>
            </a:r>
            <a:r>
              <a:rPr lang="en-US" sz="1050" dirty="0" smtClean="0"/>
              <a:t> in </a:t>
            </a:r>
            <a:r>
              <a:rPr lang="en-US" sz="1050" dirty="0" smtClean="0">
                <a:hlinkClick r:id="rId10" tooltip="Kerala"/>
              </a:rPr>
              <a:t>Kerala</a:t>
            </a:r>
            <a:r>
              <a:rPr lang="en-US" sz="1050" dirty="0" smtClean="0"/>
              <a:t>. The dam is built of </a:t>
            </a:r>
            <a:r>
              <a:rPr lang="en-US" sz="1050" i="1" dirty="0" err="1" smtClean="0"/>
              <a:t>surki</a:t>
            </a:r>
            <a:r>
              <a:rPr lang="en-US" sz="1050" dirty="0" smtClean="0"/>
              <a:t> mortar, a combination of mud and limestone, commonly used at the time of its construction.</a:t>
            </a:r>
          </a:p>
          <a:p>
            <a:r>
              <a:rPr lang="en-US" sz="1050" dirty="0" smtClean="0"/>
              <a:t>The dam was a joint project undertaken in 1949 by the erstwhile </a:t>
            </a:r>
            <a:r>
              <a:rPr lang="en-US" sz="1050" dirty="0" smtClean="0">
                <a:hlinkClick r:id="rId11" tooltip="Hyderabad state"/>
              </a:rPr>
              <a:t>Kingdom of Hyderabad</a:t>
            </a:r>
            <a:r>
              <a:rPr lang="en-US" sz="1050" dirty="0" smtClean="0"/>
              <a:t> and </a:t>
            </a:r>
            <a:r>
              <a:rPr lang="en-US" sz="1050" dirty="0" smtClean="0">
                <a:hlinkClick r:id="rId12" tooltip="Madras Presidency"/>
              </a:rPr>
              <a:t>Madras Presidency</a:t>
            </a:r>
            <a:r>
              <a:rPr lang="en-US" sz="1050" dirty="0" smtClean="0"/>
              <a:t> when the construction began;</a:t>
            </a:r>
            <a:r>
              <a:rPr lang="en-US" sz="1050" baseline="30000" dirty="0" smtClean="0">
                <a:hlinkClick r:id="rId13"/>
              </a:rPr>
              <a:t>[1]</a:t>
            </a:r>
            <a:r>
              <a:rPr lang="en-US" sz="1050" dirty="0" smtClean="0"/>
              <a:t> later, after </a:t>
            </a:r>
            <a:r>
              <a:rPr lang="en-US" sz="1050" dirty="0" smtClean="0">
                <a:hlinkClick r:id="rId14" tooltip="Republic Day (India)"/>
              </a:rPr>
              <a:t>India's constitution into a republic</a:t>
            </a:r>
            <a:r>
              <a:rPr lang="en-US" sz="1050" dirty="0" smtClean="0"/>
              <a:t> in 1950, it became a joint project between the governments of </a:t>
            </a:r>
            <a:r>
              <a:rPr lang="en-US" sz="1050" dirty="0" smtClean="0">
                <a:hlinkClick r:id="rId15" tooltip="Mysore State"/>
              </a:rPr>
              <a:t>Mysore State</a:t>
            </a:r>
            <a:r>
              <a:rPr lang="en-US" sz="1050" dirty="0" smtClean="0"/>
              <a:t> (now Karnataka) and Hyderabad State (now </a:t>
            </a:r>
            <a:r>
              <a:rPr lang="en-US" sz="1050" dirty="0" err="1" smtClean="0">
                <a:hlinkClick r:id="rId16" tooltip="Telangana"/>
              </a:rPr>
              <a:t>Telangana</a:t>
            </a:r>
            <a:r>
              <a:rPr lang="en-US" sz="1050" dirty="0" smtClean="0"/>
              <a:t>). The construction was completed in 1953. The Tungabhadra Dam has withstood the test of time for over 70 years and is expected to well cross many more decades.</a:t>
            </a:r>
          </a:p>
          <a:p>
            <a:r>
              <a:rPr lang="en-US" sz="1050" dirty="0" smtClean="0"/>
              <a:t>The chief architect of the dam was </a:t>
            </a:r>
            <a:r>
              <a:rPr lang="en-US" sz="1050" dirty="0" err="1" smtClean="0"/>
              <a:t>Vepa</a:t>
            </a:r>
            <a:r>
              <a:rPr lang="en-US" sz="1050" dirty="0" smtClean="0"/>
              <a:t> Krishnamurthy, an engineer from Madras Public Works Department (PWD). He envisioned it as being built with a large contingent of material and manual </a:t>
            </a:r>
            <a:r>
              <a:rPr lang="en-US" sz="1050" dirty="0" err="1" smtClean="0"/>
              <a:t>labour</a:t>
            </a:r>
            <a:r>
              <a:rPr lang="en-US" sz="1050" dirty="0" smtClean="0"/>
              <a:t>, as best suited to Indian </a:t>
            </a:r>
            <a:r>
              <a:rPr lang="en-US" sz="1050" dirty="0" err="1" smtClean="0"/>
              <a:t>labour</a:t>
            </a:r>
            <a:r>
              <a:rPr lang="en-US" sz="1050" dirty="0" smtClean="0"/>
              <a:t> availability and employment at that time. The chief contractor for the dam was </a:t>
            </a:r>
            <a:r>
              <a:rPr lang="en-US" sz="1050" dirty="0" err="1" smtClean="0"/>
              <a:t>Venkat</a:t>
            </a:r>
            <a:r>
              <a:rPr lang="en-US" sz="1050" dirty="0" smtClean="0"/>
              <a:t> Reddy </a:t>
            </a:r>
            <a:r>
              <a:rPr lang="en-US" sz="1050" dirty="0" err="1" smtClean="0"/>
              <a:t>Mulamalla</a:t>
            </a:r>
            <a:r>
              <a:rPr lang="en-US" sz="1050" dirty="0" smtClean="0"/>
              <a:t> from </a:t>
            </a:r>
            <a:r>
              <a:rPr lang="en-US" sz="1050" dirty="0" err="1" smtClean="0"/>
              <a:t>Konour</a:t>
            </a:r>
            <a:r>
              <a:rPr lang="en-US" sz="1050" dirty="0" smtClean="0"/>
              <a:t>, a village in </a:t>
            </a:r>
            <a:r>
              <a:rPr lang="en-US" sz="1050" dirty="0" err="1" smtClean="0">
                <a:hlinkClick r:id="rId17" tooltip="Mahbubnagar"/>
              </a:rPr>
              <a:t>Mahabubnagar</a:t>
            </a:r>
            <a:r>
              <a:rPr lang="en-US" sz="1050" dirty="0" smtClean="0"/>
              <a:t>, </a:t>
            </a:r>
            <a:r>
              <a:rPr lang="en-US" sz="1050" dirty="0" err="1" smtClean="0"/>
              <a:t>Telangana</a:t>
            </a:r>
            <a:r>
              <a:rPr lang="en-US" sz="1050" dirty="0" smtClean="0"/>
              <a:t>.</a:t>
            </a:r>
            <a:endParaRPr lang="en-US" sz="1050" dirty="0"/>
          </a:p>
        </p:txBody>
      </p:sp>
      <p:sp>
        <p:nvSpPr>
          <p:cNvPr id="7" name="TextBox 6"/>
          <p:cNvSpPr txBox="1"/>
          <p:nvPr/>
        </p:nvSpPr>
        <p:spPr>
          <a:xfrm>
            <a:off x="142844" y="2500306"/>
            <a:ext cx="4000529" cy="577081"/>
          </a:xfrm>
          <a:prstGeom prst="rect">
            <a:avLst/>
          </a:prstGeom>
          <a:noFill/>
        </p:spPr>
        <p:txBody>
          <a:bodyPr wrap="square" rtlCol="0">
            <a:spAutoFit/>
          </a:bodyPr>
          <a:lstStyle/>
          <a:p>
            <a:r>
              <a:rPr lang="en-US" sz="1050" dirty="0" smtClean="0"/>
              <a:t>TUNGABHADRA DAM IS THE LARGEST DAM IN KARNATAKA AND IS SITUATED 5KM AWAY FROM HOSPET TOWN</a:t>
            </a:r>
            <a:endParaRPr lang="en-US" sz="1050" dirty="0"/>
          </a:p>
        </p:txBody>
      </p:sp>
    </p:spTree>
  </p:cSld>
  <p:clrMapOvr>
    <a:masterClrMapping/>
  </p:clrMapOvr>
  <p:transition spd="slow" advClick="0" advTm="2000">
    <p:randomBa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3174" y="214290"/>
            <a:ext cx="3389775" cy="400110"/>
          </a:xfrm>
          <a:prstGeom prst="rect">
            <a:avLst/>
          </a:prstGeom>
          <a:noFill/>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n-US" sz="2000" b="1" spc="150" dirty="0" smtClean="0">
                <a:ln w="11430"/>
                <a:solidFill>
                  <a:srgbClr val="F8F8F8"/>
                </a:solidFill>
                <a:effectLst>
                  <a:outerShdw blurRad="25400" algn="tl" rotWithShape="0">
                    <a:srgbClr val="000000">
                      <a:alpha val="43000"/>
                    </a:srgbClr>
                  </a:outerShdw>
                </a:effectLst>
              </a:rPr>
              <a:t>GHATAPRABHA</a:t>
            </a:r>
            <a:endParaRPr lang="en-US" sz="2000" b="1" spc="150" dirty="0">
              <a:ln w="11430"/>
              <a:solidFill>
                <a:srgbClr val="F8F8F8"/>
              </a:solidFill>
              <a:effectLst>
                <a:outerShdw blurRad="25400" algn="tl" rotWithShape="0">
                  <a:srgbClr val="000000">
                    <a:alpha val="43000"/>
                  </a:srgbClr>
                </a:outerShdw>
              </a:effectLst>
            </a:endParaRPr>
          </a:p>
        </p:txBody>
      </p:sp>
      <p:sp>
        <p:nvSpPr>
          <p:cNvPr id="19458" name="AutoShape 2" descr="Ghataprabha Hydroelectric Projec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9460" name="AutoShape 4" descr="Ghataprabha Hydroelectric Projec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9461" name="Picture 5" descr="C:\Users\gpt\Desktop\KMSSS.jfif"/>
          <p:cNvPicPr>
            <a:picLocks noChangeAspect="1" noChangeArrowheads="1"/>
          </p:cNvPicPr>
          <p:nvPr/>
        </p:nvPicPr>
        <p:blipFill>
          <a:blip r:embed="rId2"/>
          <a:srcRect/>
          <a:stretch>
            <a:fillRect/>
          </a:stretch>
        </p:blipFill>
        <p:spPr bwMode="auto">
          <a:xfrm>
            <a:off x="1285852" y="928670"/>
            <a:ext cx="6240812" cy="2786077"/>
          </a:xfrm>
          <a:prstGeom prst="rect">
            <a:avLst/>
          </a:prstGeom>
          <a:noFill/>
        </p:spPr>
      </p:pic>
      <p:sp>
        <p:nvSpPr>
          <p:cNvPr id="6" name="Rectangle 5"/>
          <p:cNvSpPr/>
          <p:nvPr/>
        </p:nvSpPr>
        <p:spPr>
          <a:xfrm>
            <a:off x="0" y="3811012"/>
            <a:ext cx="9144000" cy="3046988"/>
          </a:xfrm>
          <a:prstGeom prst="rect">
            <a:avLst/>
          </a:prstGeom>
        </p:spPr>
        <p:txBody>
          <a:bodyPr wrap="square">
            <a:spAutoFit/>
          </a:bodyPr>
          <a:lstStyle/>
          <a:p>
            <a:pPr fontAlgn="base"/>
            <a:r>
              <a:rPr lang="en-US" sz="1200" b="1" dirty="0" smtClean="0">
                <a:latin typeface="Arial Rounded MT Bold" pitchFamily="34" charset="0"/>
              </a:rPr>
              <a:t>The </a:t>
            </a:r>
            <a:r>
              <a:rPr lang="en-US" sz="1200" b="1" dirty="0" err="1" smtClean="0">
                <a:latin typeface="Arial Rounded MT Bold" pitchFamily="34" charset="0"/>
              </a:rPr>
              <a:t>Ghataprabha</a:t>
            </a:r>
            <a:r>
              <a:rPr lang="en-US" sz="1200" b="1" dirty="0" smtClean="0">
                <a:latin typeface="Arial Rounded MT Bold" pitchFamily="34" charset="0"/>
              </a:rPr>
              <a:t> river is a tributary of the Krishna River and flows in state of Karnataka, India. It originates in the Western Ghats at an altitude of 884 meters and flows eastward for a distance of 283 kilometers before its confluence with the Krishna River. The river basin is 8,829 square kilometers wide and stretches across Karnataka and Maharashtra states. The </a:t>
            </a:r>
            <a:r>
              <a:rPr lang="en-US" sz="1200" b="1" dirty="0" err="1" smtClean="0">
                <a:latin typeface="Arial Rounded MT Bold" pitchFamily="34" charset="0"/>
              </a:rPr>
              <a:t>Hiranyakeshi</a:t>
            </a:r>
            <a:r>
              <a:rPr lang="en-US" sz="1200" b="1" dirty="0" smtClean="0">
                <a:latin typeface="Arial Rounded MT Bold" pitchFamily="34" charset="0"/>
              </a:rPr>
              <a:t> River and the </a:t>
            </a:r>
            <a:r>
              <a:rPr lang="en-US" sz="1200" b="1" dirty="0" err="1" smtClean="0">
                <a:latin typeface="Arial Rounded MT Bold" pitchFamily="34" charset="0"/>
              </a:rPr>
              <a:t>Markandeya</a:t>
            </a:r>
            <a:r>
              <a:rPr lang="en-US" sz="1200" b="1" dirty="0" smtClean="0">
                <a:latin typeface="Arial Rounded MT Bold" pitchFamily="34" charset="0"/>
              </a:rPr>
              <a:t> River are tributaries of the </a:t>
            </a:r>
            <a:r>
              <a:rPr lang="en-US" sz="1200" b="1" dirty="0" err="1" smtClean="0">
                <a:latin typeface="Arial Rounded MT Bold" pitchFamily="34" charset="0"/>
              </a:rPr>
              <a:t>Ghataprabha.The</a:t>
            </a:r>
            <a:r>
              <a:rPr lang="en-US" sz="1200" b="1" dirty="0" smtClean="0">
                <a:latin typeface="Arial Rounded MT Bold" pitchFamily="34" charset="0"/>
              </a:rPr>
              <a:t> </a:t>
            </a:r>
            <a:r>
              <a:rPr lang="en-US" sz="1200" b="1" dirty="0" err="1" smtClean="0">
                <a:latin typeface="Arial Rounded MT Bold" pitchFamily="34" charset="0"/>
              </a:rPr>
              <a:t>Ghataprabha</a:t>
            </a:r>
            <a:r>
              <a:rPr lang="en-US" sz="1200" b="1" dirty="0" smtClean="0">
                <a:latin typeface="Arial Rounded MT Bold" pitchFamily="34" charset="0"/>
              </a:rPr>
              <a:t> river rises in the Western Ghats and flows eastwards for a length of 283 km before joining the Krishna. The river debouches by 53 </a:t>
            </a:r>
            <a:r>
              <a:rPr lang="en-US" sz="1200" b="1" dirty="0" err="1" smtClean="0">
                <a:latin typeface="Arial Rounded MT Bold" pitchFamily="34" charset="0"/>
              </a:rPr>
              <a:t>metres</a:t>
            </a:r>
            <a:r>
              <a:rPr lang="en-US" sz="1200" b="1" dirty="0" smtClean="0">
                <a:latin typeface="Arial Rounded MT Bold" pitchFamily="34" charset="0"/>
              </a:rPr>
              <a:t> at Gokak Falls in Belgaum (</a:t>
            </a:r>
            <a:r>
              <a:rPr lang="en-US" sz="1200" b="1" dirty="0" err="1" smtClean="0">
                <a:latin typeface="Arial Rounded MT Bold" pitchFamily="34" charset="0"/>
              </a:rPr>
              <a:t>Belagaavi</a:t>
            </a:r>
            <a:r>
              <a:rPr lang="en-US" sz="1200" b="1" dirty="0" smtClean="0">
                <a:latin typeface="Arial Rounded MT Bold" pitchFamily="34" charset="0"/>
              </a:rPr>
              <a:t>) District.</a:t>
            </a:r>
            <a:br>
              <a:rPr lang="en-US" sz="1200" b="1" dirty="0" smtClean="0">
                <a:latin typeface="Arial Rounded MT Bold" pitchFamily="34" charset="0"/>
              </a:rPr>
            </a:br>
            <a:r>
              <a:rPr lang="en-US" sz="1200" b="1" dirty="0" smtClean="0">
                <a:latin typeface="Arial Rounded MT Bold" pitchFamily="34" charset="0"/>
              </a:rPr>
              <a:t>Belgaum district is located in the Northwest region of Karnataka State. The ancient name of the Belgaum was </a:t>
            </a:r>
            <a:r>
              <a:rPr lang="en-US" sz="1200" b="1" dirty="0" err="1" smtClean="0">
                <a:latin typeface="Arial Rounded MT Bold" pitchFamily="34" charset="0"/>
              </a:rPr>
              <a:t>Venugrama</a:t>
            </a:r>
            <a:r>
              <a:rPr lang="en-US" sz="1200" b="1" dirty="0" smtClean="0">
                <a:latin typeface="Arial Rounded MT Bold" pitchFamily="34" charset="0"/>
              </a:rPr>
              <a:t> (in Sanskrit) meaning village of Bamboos. Till 1961, Belgaum was a part of the Bombay state. With creation of states based on the languages, Belgaum was brought under Karnataka State. The languages spoken here are Kannada and Marathi.</a:t>
            </a:r>
            <a:endParaRPr lang="en-US" sz="1200" b="1" dirty="0">
              <a:latin typeface="Arial Rounded MT Bold" pitchFamily="34" charset="0"/>
            </a:endParaRPr>
          </a:p>
        </p:txBody>
      </p:sp>
    </p:spTree>
  </p:cSld>
  <p:clrMapOvr>
    <a:masterClrMapping/>
  </p:clrMapOvr>
  <p:transition spd="slow" advClick="0" advTm="2000">
    <p:fade thruBlk="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71802" y="214290"/>
            <a:ext cx="2419509" cy="400110"/>
          </a:xfrm>
          <a:prstGeom prst="rect">
            <a:avLst/>
          </a:prstGeom>
          <a:noFill/>
        </p:spPr>
        <p:txBody>
          <a:bodyPr wrap="non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20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VEDAVATHI</a:t>
            </a:r>
            <a:endParaRPr lang="en-US" sz="20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pic>
        <p:nvPicPr>
          <p:cNvPr id="20482" name="Picture 2" descr="Vedavathi River in Kellodu, Karnataka | BangaloreOrbit.com"/>
          <p:cNvPicPr>
            <a:picLocks noChangeAspect="1" noChangeArrowheads="1"/>
          </p:cNvPicPr>
          <p:nvPr/>
        </p:nvPicPr>
        <p:blipFill>
          <a:blip r:embed="rId2"/>
          <a:srcRect/>
          <a:stretch>
            <a:fillRect/>
          </a:stretch>
        </p:blipFill>
        <p:spPr bwMode="auto">
          <a:xfrm>
            <a:off x="142844" y="1000108"/>
            <a:ext cx="3784553" cy="2428892"/>
          </a:xfrm>
          <a:prstGeom prst="rect">
            <a:avLst/>
          </a:prstGeom>
          <a:noFill/>
        </p:spPr>
      </p:pic>
      <p:pic>
        <p:nvPicPr>
          <p:cNvPr id="20484" name="Picture 4" descr="Vedavathi River - Wikipedia"/>
          <p:cNvPicPr>
            <a:picLocks noChangeAspect="1" noChangeArrowheads="1"/>
          </p:cNvPicPr>
          <p:nvPr/>
        </p:nvPicPr>
        <p:blipFill>
          <a:blip r:embed="rId3"/>
          <a:srcRect/>
          <a:stretch>
            <a:fillRect/>
          </a:stretch>
        </p:blipFill>
        <p:spPr bwMode="auto">
          <a:xfrm>
            <a:off x="4143372" y="857232"/>
            <a:ext cx="4500594" cy="2857520"/>
          </a:xfrm>
          <a:prstGeom prst="rect">
            <a:avLst/>
          </a:prstGeom>
          <a:noFill/>
        </p:spPr>
      </p:pic>
      <p:sp>
        <p:nvSpPr>
          <p:cNvPr id="5" name="Rectangle 4"/>
          <p:cNvSpPr/>
          <p:nvPr/>
        </p:nvSpPr>
        <p:spPr>
          <a:xfrm>
            <a:off x="357158" y="3786190"/>
            <a:ext cx="8358246" cy="1754326"/>
          </a:xfrm>
          <a:prstGeom prst="rect">
            <a:avLst/>
          </a:prstGeom>
        </p:spPr>
        <p:txBody>
          <a:bodyPr wrap="square">
            <a:spAutoFit/>
          </a:bodyPr>
          <a:lstStyle/>
          <a:p>
            <a:r>
              <a:rPr lang="en-US" sz="1200" dirty="0" smtClean="0"/>
              <a:t>The </a:t>
            </a:r>
            <a:r>
              <a:rPr lang="en-US" sz="1200" b="1" dirty="0" err="1" smtClean="0"/>
              <a:t>Vedavathi</a:t>
            </a:r>
            <a:r>
              <a:rPr lang="en-US" sz="1200" dirty="0" smtClean="0"/>
              <a:t> is a river in </a:t>
            </a:r>
            <a:r>
              <a:rPr lang="en-US" sz="1200" dirty="0" smtClean="0">
                <a:hlinkClick r:id="rId4" tooltip="India"/>
              </a:rPr>
              <a:t>India</a:t>
            </a:r>
            <a:r>
              <a:rPr lang="en-US" sz="1200" dirty="0" smtClean="0"/>
              <a:t>. It rises from the </a:t>
            </a:r>
            <a:r>
              <a:rPr lang="en-US" sz="1200" dirty="0" err="1" smtClean="0"/>
              <a:t>Bababudanagiri</a:t>
            </a:r>
            <a:r>
              <a:rPr lang="en-US" sz="1200" dirty="0" smtClean="0"/>
              <a:t> Mountains of </a:t>
            </a:r>
            <a:r>
              <a:rPr lang="en-US" sz="1200" dirty="0" smtClean="0">
                <a:hlinkClick r:id="rId5" tooltip="Western Ghats"/>
              </a:rPr>
              <a:t>Western Ghats</a:t>
            </a:r>
            <a:r>
              <a:rPr lang="en-US" sz="1200" dirty="0" smtClean="0"/>
              <a:t> and flows through the states of </a:t>
            </a:r>
            <a:r>
              <a:rPr lang="en-US" sz="1200" dirty="0" smtClean="0">
                <a:hlinkClick r:id="rId6" tooltip="Karnataka"/>
              </a:rPr>
              <a:t>Karnataka</a:t>
            </a:r>
            <a:r>
              <a:rPr lang="en-US" sz="1200" dirty="0" smtClean="0"/>
              <a:t> and </a:t>
            </a:r>
            <a:r>
              <a:rPr lang="en-US" sz="1200" dirty="0" smtClean="0">
                <a:hlinkClick r:id="rId7" tooltip="Andhra Pradesh"/>
              </a:rPr>
              <a:t>Andhra Pradesh</a:t>
            </a:r>
            <a:r>
              <a:rPr lang="en-US" sz="1200" dirty="0" smtClean="0"/>
              <a:t>. The </a:t>
            </a:r>
            <a:r>
              <a:rPr lang="en-US" sz="1200" dirty="0" err="1" smtClean="0"/>
              <a:t>Vedavathi</a:t>
            </a:r>
            <a:r>
              <a:rPr lang="en-US" sz="1200" dirty="0" smtClean="0"/>
              <a:t> is also called the </a:t>
            </a:r>
            <a:r>
              <a:rPr lang="en-US" sz="1200" b="1" dirty="0" err="1" smtClean="0"/>
              <a:t>Hagari</a:t>
            </a:r>
            <a:r>
              <a:rPr lang="en-US" sz="1200" dirty="0" smtClean="0"/>
              <a:t> in Bellary District of Karnataka and parts of </a:t>
            </a:r>
            <a:r>
              <a:rPr lang="en-US" sz="1200" dirty="0" smtClean="0">
                <a:hlinkClick r:id="rId7" tooltip="Andhra Pradesh"/>
              </a:rPr>
              <a:t>Andhra Pradesh</a:t>
            </a:r>
            <a:r>
              <a:rPr lang="en-US" sz="1200" dirty="0" smtClean="0"/>
              <a:t>. Two rivers, the Veda and </a:t>
            </a:r>
            <a:r>
              <a:rPr lang="en-US" sz="1200" dirty="0" err="1" smtClean="0"/>
              <a:t>Avathi</a:t>
            </a:r>
            <a:r>
              <a:rPr lang="en-US" sz="1200" dirty="0" smtClean="0"/>
              <a:t>, arise in the eastern part of the </a:t>
            </a:r>
            <a:r>
              <a:rPr lang="en-US" sz="1200" dirty="0" err="1" smtClean="0">
                <a:hlinkClick r:id="rId8" tooltip="Sahyadri"/>
              </a:rPr>
              <a:t>Sahyadri</a:t>
            </a:r>
            <a:r>
              <a:rPr lang="en-US" sz="1200" dirty="0" smtClean="0"/>
              <a:t> Hill range in </a:t>
            </a:r>
            <a:r>
              <a:rPr lang="en-US" sz="1200" dirty="0" err="1" smtClean="0"/>
              <a:t>Bababudangiri</a:t>
            </a:r>
            <a:r>
              <a:rPr lang="en-US" sz="1200" dirty="0" smtClean="0"/>
              <a:t> mountain ranges, flow east, and join near </a:t>
            </a:r>
            <a:r>
              <a:rPr lang="en-US" sz="1200" dirty="0" err="1" smtClean="0"/>
              <a:t>Pura</a:t>
            </a:r>
            <a:r>
              <a:rPr lang="en-US" sz="1200" dirty="0" smtClean="0"/>
              <a:t> to form the </a:t>
            </a:r>
            <a:r>
              <a:rPr lang="en-US" sz="1200" dirty="0" err="1" smtClean="0"/>
              <a:t>Vedavathi</a:t>
            </a:r>
            <a:r>
              <a:rPr lang="en-US" sz="1200" dirty="0" smtClean="0"/>
              <a:t> River. From there the river flows through </a:t>
            </a:r>
            <a:r>
              <a:rPr lang="en-US" sz="1200" dirty="0" err="1" smtClean="0"/>
              <a:t>Kadur</a:t>
            </a:r>
            <a:r>
              <a:rPr lang="en-US" sz="1200" dirty="0" smtClean="0"/>
              <a:t> </a:t>
            </a:r>
            <a:r>
              <a:rPr lang="en-US" sz="1200" dirty="0" err="1" smtClean="0"/>
              <a:t>Taluk</a:t>
            </a:r>
            <a:r>
              <a:rPr lang="en-US" sz="1200" dirty="0" smtClean="0"/>
              <a:t> Of </a:t>
            </a:r>
            <a:r>
              <a:rPr lang="en-US" sz="1200" dirty="0" err="1" smtClean="0"/>
              <a:t>Chikkamagalur</a:t>
            </a:r>
            <a:r>
              <a:rPr lang="en-US" sz="1200" dirty="0" smtClean="0"/>
              <a:t> District. Then it enters </a:t>
            </a:r>
            <a:r>
              <a:rPr lang="en-US" sz="1200" dirty="0" err="1" smtClean="0"/>
              <a:t>Hosadurga</a:t>
            </a:r>
            <a:r>
              <a:rPr lang="en-US" sz="1200" dirty="0" smtClean="0"/>
              <a:t> </a:t>
            </a:r>
            <a:r>
              <a:rPr lang="en-US" sz="1200" dirty="0" err="1" smtClean="0"/>
              <a:t>Taluk</a:t>
            </a:r>
            <a:r>
              <a:rPr lang="en-US" sz="1200" dirty="0" smtClean="0"/>
              <a:t>, </a:t>
            </a:r>
            <a:r>
              <a:rPr lang="en-US" sz="1200" dirty="0" err="1" smtClean="0"/>
              <a:t>Hiriyur</a:t>
            </a:r>
            <a:r>
              <a:rPr lang="en-US" sz="1200" dirty="0" smtClean="0"/>
              <a:t> </a:t>
            </a:r>
            <a:r>
              <a:rPr lang="en-US" sz="1200" dirty="0" err="1" smtClean="0"/>
              <a:t>Taluk</a:t>
            </a:r>
            <a:r>
              <a:rPr lang="en-US" sz="1200" dirty="0" smtClean="0"/>
              <a:t> and </a:t>
            </a:r>
            <a:r>
              <a:rPr lang="en-US" sz="1200" dirty="0" err="1" smtClean="0"/>
              <a:t>Challakere</a:t>
            </a:r>
            <a:r>
              <a:rPr lang="en-US" sz="1200" dirty="0" smtClean="0"/>
              <a:t> </a:t>
            </a:r>
            <a:r>
              <a:rPr lang="en-US" sz="1200" dirty="0" err="1" smtClean="0"/>
              <a:t>Taluk</a:t>
            </a:r>
            <a:r>
              <a:rPr lang="en-US" sz="1200" dirty="0" smtClean="0"/>
              <a:t> of </a:t>
            </a:r>
            <a:r>
              <a:rPr lang="en-US" sz="1200" dirty="0" err="1" smtClean="0"/>
              <a:t>Chitradurga</a:t>
            </a:r>
            <a:r>
              <a:rPr lang="en-US" sz="1200" dirty="0" smtClean="0"/>
              <a:t> district, respectively.</a:t>
            </a:r>
            <a:endParaRPr lang="en-US" sz="1200" dirty="0"/>
          </a:p>
        </p:txBody>
      </p:sp>
      <p:sp>
        <p:nvSpPr>
          <p:cNvPr id="6" name="Rectangle 5"/>
          <p:cNvSpPr/>
          <p:nvPr/>
        </p:nvSpPr>
        <p:spPr>
          <a:xfrm>
            <a:off x="357158" y="5643578"/>
            <a:ext cx="6858000" cy="938719"/>
          </a:xfrm>
          <a:prstGeom prst="rect">
            <a:avLst/>
          </a:prstGeom>
        </p:spPr>
        <p:txBody>
          <a:bodyPr wrap="square">
            <a:spAutoFit/>
          </a:bodyPr>
          <a:lstStyle/>
          <a:p>
            <a:r>
              <a:rPr lang="en-US" sz="1100" dirty="0" smtClean="0"/>
              <a:t>The </a:t>
            </a:r>
            <a:r>
              <a:rPr lang="en-US" sz="1100" dirty="0" err="1" smtClean="0"/>
              <a:t>Vedavathi</a:t>
            </a:r>
            <a:r>
              <a:rPr lang="en-US" sz="1100" dirty="0" smtClean="0"/>
              <a:t> river then flows from </a:t>
            </a:r>
            <a:r>
              <a:rPr lang="en-US" sz="1100" dirty="0" err="1" smtClean="0"/>
              <a:t>Hiriyur</a:t>
            </a:r>
            <a:r>
              <a:rPr lang="en-US" sz="1100" dirty="0" smtClean="0"/>
              <a:t> towards </a:t>
            </a:r>
            <a:r>
              <a:rPr lang="en-US" sz="1100" dirty="0" err="1" smtClean="0"/>
              <a:t>Narayanapura</a:t>
            </a:r>
            <a:r>
              <a:rPr lang="en-US" sz="1100" dirty="0" smtClean="0"/>
              <a:t>, </a:t>
            </a:r>
            <a:r>
              <a:rPr lang="en-US" sz="1100" dirty="0" err="1" smtClean="0"/>
              <a:t>Parashurampaura</a:t>
            </a:r>
            <a:r>
              <a:rPr lang="en-US" sz="1100" dirty="0" smtClean="0"/>
              <a:t>, </a:t>
            </a:r>
            <a:r>
              <a:rPr lang="en-US" sz="1100" dirty="0" err="1" smtClean="0"/>
              <a:t>Vrindavanahalli</a:t>
            </a:r>
            <a:r>
              <a:rPr lang="en-US" sz="1100" dirty="0" smtClean="0"/>
              <a:t>, where river flows circularly, hence village called </a:t>
            </a:r>
            <a:r>
              <a:rPr lang="en-US" sz="1100" dirty="0" err="1" smtClean="0"/>
              <a:t>Vrindavana</a:t>
            </a:r>
            <a:r>
              <a:rPr lang="en-US" sz="1100" dirty="0" smtClean="0"/>
              <a:t> </a:t>
            </a:r>
            <a:r>
              <a:rPr lang="en-US" sz="1100" dirty="0" err="1" smtClean="0"/>
              <a:t>Halli</a:t>
            </a:r>
            <a:r>
              <a:rPr lang="en-US" sz="1100" dirty="0" smtClean="0"/>
              <a:t> and then to </a:t>
            </a:r>
            <a:r>
              <a:rPr lang="en-US" sz="1100" dirty="0" err="1" smtClean="0"/>
              <a:t>Jajur</a:t>
            </a:r>
            <a:r>
              <a:rPr lang="en-US" sz="1100" dirty="0" smtClean="0"/>
              <a:t> (</a:t>
            </a:r>
            <a:r>
              <a:rPr lang="en-US" sz="1100" dirty="0" err="1" smtClean="0"/>
              <a:t>moodala</a:t>
            </a:r>
            <a:r>
              <a:rPr lang="en-US" sz="1100" dirty="0" smtClean="0"/>
              <a:t> </a:t>
            </a:r>
            <a:r>
              <a:rPr lang="en-US" sz="1100" dirty="0" err="1" smtClean="0"/>
              <a:t>jajur</a:t>
            </a:r>
            <a:r>
              <a:rPr lang="en-US" sz="1100" dirty="0" smtClean="0"/>
              <a:t>) </a:t>
            </a:r>
            <a:r>
              <a:rPr lang="en-US" sz="1100" dirty="0" err="1" smtClean="0"/>
              <a:t>Nagagondanahalli</a:t>
            </a:r>
            <a:r>
              <a:rPr lang="en-US" sz="1100" dirty="0" smtClean="0"/>
              <a:t>, </a:t>
            </a:r>
            <a:r>
              <a:rPr lang="en-US" sz="1100" dirty="0" err="1" smtClean="0"/>
              <a:t>Janamaddi</a:t>
            </a:r>
            <a:r>
              <a:rPr lang="en-US" sz="1100" dirty="0" smtClean="0"/>
              <a:t> and then enters Andhra Pradesh i.e. </a:t>
            </a:r>
            <a:r>
              <a:rPr lang="en-US" sz="1100" dirty="0" err="1" smtClean="0"/>
              <a:t>Bhairavani</a:t>
            </a:r>
            <a:r>
              <a:rPr lang="en-US" sz="1100" dirty="0" smtClean="0"/>
              <a:t> </a:t>
            </a:r>
            <a:r>
              <a:rPr lang="en-US" sz="1100" dirty="0" err="1" smtClean="0"/>
              <a:t>Thippa</a:t>
            </a:r>
            <a:r>
              <a:rPr lang="en-US" sz="1100" dirty="0" smtClean="0"/>
              <a:t> Dam (BT Project).</a:t>
            </a:r>
            <a:endParaRPr lang="en-US" sz="1100" dirty="0"/>
          </a:p>
        </p:txBody>
      </p:sp>
    </p:spTree>
  </p:cSld>
  <p:clrMapOvr>
    <a:masterClrMapping/>
  </p:clrMapOvr>
  <p:transition spd="slow" advClick="0" advTm="2000">
    <p:wheel spokes="1"/>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107</TotalTime>
  <Words>427</Words>
  <Application>Microsoft Office PowerPoint</Application>
  <PresentationFormat>On-screen Show (4:3)</PresentationFormat>
  <Paragraphs>48</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Metro</vt:lpstr>
      <vt:lpstr>Slide 1</vt:lpstr>
      <vt:lpstr>Slide 2</vt:lpstr>
      <vt:lpstr>Slide 3</vt:lpstr>
      <vt:lpstr>Slide 4</vt:lpstr>
      <vt:lpstr>Slide 5</vt:lpstr>
      <vt:lpstr>Slide 6</vt:lpstr>
      <vt:lpstr>Slide 7</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gpt</dc:creator>
  <cp:lastModifiedBy>gpt</cp:lastModifiedBy>
  <cp:revision>14</cp:revision>
  <dcterms:created xsi:type="dcterms:W3CDTF">2023-05-12T19:50:50Z</dcterms:created>
  <dcterms:modified xsi:type="dcterms:W3CDTF">2023-05-13T18:06:43Z</dcterms:modified>
</cp:coreProperties>
</file>